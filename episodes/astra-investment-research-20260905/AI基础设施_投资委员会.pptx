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4df200f1d94e10" /><Relationship Type="http://schemas.openxmlformats.org/officeDocument/2006/relationships/extended-properties" Target="/docProps/app.xml" Id="R3dfdc395eb194b90" /><Relationship Type="http://schemas.openxmlformats.org/officeDocument/2006/relationships/officeDocument" Target="/ppt/presentation.xml" Id="Rf79de92e73f247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03d3d461b54efd"/>
  </p:sldMasterIdLst>
  <p:notesMasterIdLst>
    <p:notesMasterId xmlns:r="http://schemas.openxmlformats.org/officeDocument/2006/relationships" r:id="Rbb59dce3497043ca"/>
  </p:notesMasterIdLst>
  <p:sldIdLst>
    <p:sldId xmlns:r="http://schemas.openxmlformats.org/officeDocument/2006/relationships" id="256" r:id="Re0219d277f404e80"/>
    <p:sldId xmlns:r="http://schemas.openxmlformats.org/officeDocument/2006/relationships" id="257" r:id="Re533de80c2ec4cb9"/>
    <p:sldId xmlns:r="http://schemas.openxmlformats.org/officeDocument/2006/relationships" id="258" r:id="Raf518b2955e94879"/>
    <p:sldId xmlns:r="http://schemas.openxmlformats.org/officeDocument/2006/relationships" id="259" r:id="R5b52d10d84744d75"/>
    <p:sldId xmlns:r="http://schemas.openxmlformats.org/officeDocument/2006/relationships" id="260" r:id="R8044c7df73e64fae"/>
    <p:sldId xmlns:r="http://schemas.openxmlformats.org/officeDocument/2006/relationships" id="261" r:id="R966fdd50924a4d2f"/>
    <p:sldId xmlns:r="http://schemas.openxmlformats.org/officeDocument/2006/relationships" id="262" r:id="R0bcc272700c34669"/>
    <p:sldId xmlns:r="http://schemas.openxmlformats.org/officeDocument/2006/relationships" id="263" r:id="Rb5815296e956409c"/>
    <p:sldId xmlns:r="http://schemas.openxmlformats.org/officeDocument/2006/relationships" id="264" r:id="R38e84436847c499f"/>
    <p:sldId xmlns:r="http://schemas.openxmlformats.org/officeDocument/2006/relationships" id="265" r:id="Rc6c8f0fa7bf04506"/>
    <p:sldId xmlns:r="http://schemas.openxmlformats.org/officeDocument/2006/relationships" id="266" r:id="Rcbf3cff9b2914249"/>
    <p:sldId xmlns:r="http://schemas.openxmlformats.org/officeDocument/2006/relationships" id="267" r:id="R235871cc122f4ebf"/>
    <p:sldId xmlns:r="http://schemas.openxmlformats.org/officeDocument/2006/relationships" id="268" r:id="R2f0214f1ce3a4804"/>
    <p:sldId xmlns:r="http://schemas.openxmlformats.org/officeDocument/2006/relationships" id="269" r:id="Rbefd034d8ae64a4e"/>
    <p:sldId xmlns:r="http://schemas.openxmlformats.org/officeDocument/2006/relationships" id="270" r:id="Rfc1a74628bab4872"/>
    <p:sldId xmlns:r="http://schemas.openxmlformats.org/officeDocument/2006/relationships" id="271" r:id="R615b2b7e80cf47c1"/>
    <p:sldId xmlns:r="http://schemas.openxmlformats.org/officeDocument/2006/relationships" id="272" r:id="R7a0fc3239349450a"/>
    <p:sldId xmlns:r="http://schemas.openxmlformats.org/officeDocument/2006/relationships" id="273" r:id="Rcf3d6027d301453b"/>
    <p:sldId xmlns:r="http://schemas.openxmlformats.org/officeDocument/2006/relationships" id="274" r:id="R084ab2ed6da049ca"/>
    <p:sldId xmlns:r="http://schemas.openxmlformats.org/officeDocument/2006/relationships" id="275" r:id="R6f05ca28920d4e4a"/>
    <p:sldId xmlns:r="http://schemas.openxmlformats.org/officeDocument/2006/relationships" id="276" r:id="R564cb97fba774661"/>
    <p:sldId xmlns:r="http://schemas.openxmlformats.org/officeDocument/2006/relationships" id="277" r:id="R2fdaead1ec174c1a"/>
    <p:sldId xmlns:r="http://schemas.openxmlformats.org/officeDocument/2006/relationships" id="278" r:id="Rd1644454580f40f5"/>
    <p:sldId xmlns:r="http://schemas.openxmlformats.org/officeDocument/2006/relationships" id="279" r:id="Rf05f68c6154342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9f010c307e4277" /><Relationship Type="http://schemas.openxmlformats.org/officeDocument/2006/relationships/slideMaster" Target="/ppt/slideMasters/slideMaster1.xml" Id="Rf203d3d461b54efd" /><Relationship Type="http://schemas.openxmlformats.org/officeDocument/2006/relationships/notesMaster" Target="/ppt/notesMasters/notesMaster1.xml" Id="Rbb59dce3497043ca" /><Relationship Type="http://schemas.openxmlformats.org/officeDocument/2006/relationships/presProps" Target="/ppt/presProps.xml" Id="R89a97ac07dee476c" /><Relationship Type="http://schemas.openxmlformats.org/officeDocument/2006/relationships/tableStyles" Target="/ppt/tableStyles.xml" Id="R9334e210c66044b1" /><Relationship Type="http://schemas.openxmlformats.org/officeDocument/2006/relationships/slide" Target="/ppt/slides/slide1.xml" Id="Re0219d277f404e80" /><Relationship Type="http://schemas.openxmlformats.org/officeDocument/2006/relationships/slide" Target="/ppt/slides/slide2.xml" Id="Re533de80c2ec4cb9" /><Relationship Type="http://schemas.openxmlformats.org/officeDocument/2006/relationships/slide" Target="/ppt/slides/slide3.xml" Id="Raf518b2955e94879" /><Relationship Type="http://schemas.openxmlformats.org/officeDocument/2006/relationships/slide" Target="/ppt/slides/slide4.xml" Id="R5b52d10d84744d75" /><Relationship Type="http://schemas.openxmlformats.org/officeDocument/2006/relationships/slide" Target="/ppt/slides/slide5.xml" Id="R8044c7df73e64fae" /><Relationship Type="http://schemas.openxmlformats.org/officeDocument/2006/relationships/slide" Target="/ppt/slides/slide6.xml" Id="R966fdd50924a4d2f" /><Relationship Type="http://schemas.openxmlformats.org/officeDocument/2006/relationships/slide" Target="/ppt/slides/slide7.xml" Id="R0bcc272700c34669" /><Relationship Type="http://schemas.openxmlformats.org/officeDocument/2006/relationships/slide" Target="/ppt/slides/slide8.xml" Id="Rb5815296e956409c" /><Relationship Type="http://schemas.openxmlformats.org/officeDocument/2006/relationships/slide" Target="/ppt/slides/slide9.xml" Id="R38e84436847c499f" /><Relationship Type="http://schemas.openxmlformats.org/officeDocument/2006/relationships/slide" Target="/ppt/slides/slide10.xml" Id="Rc6c8f0fa7bf04506" /><Relationship Type="http://schemas.openxmlformats.org/officeDocument/2006/relationships/slide" Target="/ppt/slides/slide11.xml" Id="Rcbf3cff9b2914249" /><Relationship Type="http://schemas.openxmlformats.org/officeDocument/2006/relationships/slide" Target="/ppt/slides/slide12.xml" Id="R235871cc122f4ebf" /><Relationship Type="http://schemas.openxmlformats.org/officeDocument/2006/relationships/slide" Target="/ppt/slides/slide13.xml" Id="R2f0214f1ce3a4804" /><Relationship Type="http://schemas.openxmlformats.org/officeDocument/2006/relationships/slide" Target="/ppt/slides/slide14.xml" Id="Rbefd034d8ae64a4e" /><Relationship Type="http://schemas.openxmlformats.org/officeDocument/2006/relationships/slide" Target="/ppt/slides/slide15.xml" Id="Rfc1a74628bab4872" /><Relationship Type="http://schemas.openxmlformats.org/officeDocument/2006/relationships/slide" Target="/ppt/slides/slide16.xml" Id="R615b2b7e80cf47c1" /><Relationship Type="http://schemas.openxmlformats.org/officeDocument/2006/relationships/slide" Target="/ppt/slides/slide17.xml" Id="R7a0fc3239349450a" /><Relationship Type="http://schemas.openxmlformats.org/officeDocument/2006/relationships/slide" Target="/ppt/slides/slide18.xml" Id="Rcf3d6027d301453b" /><Relationship Type="http://schemas.openxmlformats.org/officeDocument/2006/relationships/slide" Target="/ppt/slides/slide19.xml" Id="R084ab2ed6da049ca" /><Relationship Type="http://schemas.openxmlformats.org/officeDocument/2006/relationships/slide" Target="/ppt/slides/slide20.xml" Id="R6f05ca28920d4e4a" /><Relationship Type="http://schemas.openxmlformats.org/officeDocument/2006/relationships/slide" Target="/ppt/slides/slide21.xml" Id="R564cb97fba774661" /><Relationship Type="http://schemas.openxmlformats.org/officeDocument/2006/relationships/slide" Target="/ppt/slides/slide22.xml" Id="R2fdaead1ec174c1a" /><Relationship Type="http://schemas.openxmlformats.org/officeDocument/2006/relationships/slide" Target="/ppt/slides/slide23.xml" Id="Rd1644454580f40f5" /><Relationship Type="http://schemas.openxmlformats.org/officeDocument/2006/relationships/slide" Target="/ppt/slides/slide24.xml" Id="Rf05f68c6154342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35fdc3276449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56ee586f774118" /><Relationship Type="http://schemas.openxmlformats.org/officeDocument/2006/relationships/notesMaster" Target="/ppt/notesMasters/notesMaster1.xml" Id="R72f76bb7b9c643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275dd7797d47d7" /><Relationship Type="http://schemas.openxmlformats.org/officeDocument/2006/relationships/notesMaster" Target="/ppt/notesMasters/notesMaster1.xml" Id="R77e8b7d35d7b47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5d0d929d2d41ac" /><Relationship Type="http://schemas.openxmlformats.org/officeDocument/2006/relationships/notesMaster" Target="/ppt/notesMasters/notesMaster1.xml" Id="R5a778e29b14844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abbb3edbd84b24" /><Relationship Type="http://schemas.openxmlformats.org/officeDocument/2006/relationships/notesMaster" Target="/ppt/notesMasters/notesMaster1.xml" Id="Rc45fde7a81624f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77ec43857a42e3" /><Relationship Type="http://schemas.openxmlformats.org/officeDocument/2006/relationships/notesMaster" Target="/ppt/notesMasters/notesMaster1.xml" Id="R8062117aaacb46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8ae92e69dd4088" /><Relationship Type="http://schemas.openxmlformats.org/officeDocument/2006/relationships/notesMaster" Target="/ppt/notesMasters/notesMaster1.xml" Id="Re22b6b34b15346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d62d5fc53c47ac" /><Relationship Type="http://schemas.openxmlformats.org/officeDocument/2006/relationships/notesMaster" Target="/ppt/notesMasters/notesMaster1.xml" Id="R50363672dc1c42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19893749d942e9" /><Relationship Type="http://schemas.openxmlformats.org/officeDocument/2006/relationships/notesMaster" Target="/ppt/notesMasters/notesMaster1.xml" Id="R5441569ed9f343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79637c39d24e8e" /><Relationship Type="http://schemas.openxmlformats.org/officeDocument/2006/relationships/notesMaster" Target="/ppt/notesMasters/notesMaster1.xml" Id="Rd32722d9e4f04c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5b8c9d065845d4" /><Relationship Type="http://schemas.openxmlformats.org/officeDocument/2006/relationships/notesMaster" Target="/ppt/notesMasters/notesMaster1.xml" Id="R7b4fe292b8e844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27899a8e4b4508" /><Relationship Type="http://schemas.openxmlformats.org/officeDocument/2006/relationships/notesMaster" Target="/ppt/notesMasters/notesMaster1.xml" Id="R2495a135ae6e4b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2f4ae6b2da4ac1" /><Relationship Type="http://schemas.openxmlformats.org/officeDocument/2006/relationships/notesMaster" Target="/ppt/notesMasters/notesMaster1.xml" Id="R7984a222b6e94a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f0751b2eb643d4" /><Relationship Type="http://schemas.openxmlformats.org/officeDocument/2006/relationships/notesMaster" Target="/ppt/notesMasters/notesMaster1.xml" Id="R3ca3915ed36d4e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1c43ab67184f6f" /><Relationship Type="http://schemas.openxmlformats.org/officeDocument/2006/relationships/notesMaster" Target="/ppt/notesMasters/notesMaster1.xml" Id="R427911c5d6b544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2c978545d44618" /><Relationship Type="http://schemas.openxmlformats.org/officeDocument/2006/relationships/notesMaster" Target="/ppt/notesMasters/notesMaster1.xml" Id="R07358b2b341244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1459bcc2a443f2" /><Relationship Type="http://schemas.openxmlformats.org/officeDocument/2006/relationships/notesMaster" Target="/ppt/notesMasters/notesMaster1.xml" Id="R12d7cebfe31c41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ca80ab404d49ad" /><Relationship Type="http://schemas.openxmlformats.org/officeDocument/2006/relationships/notesMaster" Target="/ppt/notesMasters/notesMaster1.xml" Id="Rbc34bf85d52840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9e2d66ef8254f9e" /><Relationship Type="http://schemas.openxmlformats.org/officeDocument/2006/relationships/notesMaster" Target="/ppt/notesMasters/notesMaster1.xml" Id="R59e166f7b2a542a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842fbbe46664f6c" /><Relationship Type="http://schemas.openxmlformats.org/officeDocument/2006/relationships/notesMaster" Target="/ppt/notesMasters/notesMaster1.xml" Id="R479aaf312ee243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0c86939e73449d" /><Relationship Type="http://schemas.openxmlformats.org/officeDocument/2006/relationships/notesMaster" Target="/ppt/notesMasters/notesMaster1.xml" Id="R7f1399dccf564a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8a85d2bdf6409b" /><Relationship Type="http://schemas.openxmlformats.org/officeDocument/2006/relationships/notesMaster" Target="/ppt/notesMasters/notesMaster1.xml" Id="R688fddb496954e2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58e268ed40e4a50" /><Relationship Type="http://schemas.openxmlformats.org/officeDocument/2006/relationships/notesMaster" Target="/ppt/notesMasters/notesMaster1.xml" Id="R50a70cc81ba942c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2cc709e2634e1f" /><Relationship Type="http://schemas.openxmlformats.org/officeDocument/2006/relationships/notesMaster" Target="/ppt/notesMasters/notesMaster1.xml" Id="R1ea2ce39c6b54ec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51d43b1ff84935" /><Relationship Type="http://schemas.openxmlformats.org/officeDocument/2006/relationships/notesMaster" Target="/ppt/notesMasters/notesMaster1.xml" Id="R9f4e27c609494a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SEMI09 | Q2 2026 Consolidated Financial Report | 2026-08-14</a:t>
            </a:r>
          </a:p>
          <a:p xmlns:a="http://schemas.openxmlformats.org/drawingml/2006/main">
            <a:r>
              <a:t>合并损益表、现金流量表；Note13；Note25</a:t>
            </a:r>
          </a:p>
          <a:p xmlns:a="http://schemas.openxmlformats.org/drawingml/2006/main">
            <a:r>
              <a:t>https://www.sec.gov/Archives/edgar/data/1046179/000104617926000541/a2026q2consolidatedreport-.htm</a:t>
            </a:r>
          </a:p>
          <a:p xmlns:a="http://schemas.openxmlformats.org/drawingml/2006/main">
            <a:r>
              <a:t>局限：原披露单位为千新台币；底稿换算为百万新台币。ADS＝5 普通股；Q2 的 VIS 处置及重估收益在估值中剔除。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SEMI10 | Q2 FY2027 Earnings Release | 2026-08-26</a:t>
            </a:r>
          </a:p>
          <a:p xmlns:a="http://schemas.openxmlformats.org/drawingml/2006/main">
            <a:r>
              <a:t>Income statement/cash flow statement</a:t>
            </a:r>
          </a:p>
          <a:p xmlns:a="http://schemas.openxmlformats.org/drawingml/2006/main">
            <a:r>
              <a:t>https://nvidianews.nvidia.com/news/nvidia-announces-financial-results-for-second-quarter-fiscal-2027</a:t>
            </a:r>
          </a:p>
          <a:p xmlns:a="http://schemas.openxmlformats.org/drawingml/2006/main">
            <a:r>
              <a:t>局限：Q3为指引；中国出口限制及ASIC竞争风险；证券收益与供应融资需单列，不能直接以净利年化。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P13 | Half Year 2026 Results | 2026-07-30</a:t>
            </a:r>
          </a:p>
          <a:p xmlns:a="http://schemas.openxmlformats.org/drawingml/2006/main">
            <a:r>
              <a:t>2026H1 / Q2 / FY2026 targets</a:t>
            </a:r>
          </a:p>
          <a:p xmlns:a="http://schemas.openxmlformats.org/drawingml/2006/main">
            <a:r>
              <a:t>https://www.se.com/ww/en/assets/pdf/release-hy-results-2026</a:t>
            </a:r>
          </a:p>
          <a:p xmlns:a="http://schemas.openxmlformats.org/drawingml/2006/main">
            <a:r>
              <a:t>局限：运营现金流在公司该表中为营运资本变动前口径；FCF同比含去年罚款基数；无液冷独立收入/利润。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P04 | Q3 FY2026 earnings release and financial results | 2026-08-05</a:t>
            </a:r>
          </a:p>
          <a:p xmlns:a="http://schemas.openxmlformats.org/drawingml/2006/main">
            <a:r>
              <a:t>FY2026Q3 ended 2026-06-30 / FY2026 guidance</a:t>
            </a:r>
          </a:p>
          <a:p xmlns:a="http://schemas.openxmlformats.org/drawingml/2006/main">
            <a:r>
              <a:t>https://assets.siemens-energy.com/dam/30018eed-275d-4e73-811e-b49d004cdc3d/2026-08-05-Earnings_Release_Q3_FY26_EN-pdf_Original%20file.pdf</a:t>
            </a:r>
          </a:p>
          <a:p xmlns:a="http://schemas.openxmlformats.org/drawingml/2006/main">
            <a:r>
              <a:t>局限：财政年度截至9月；税前FCF指引不能和美国公司税后FCF直接比较。GS/GT积压包含大量非AI客户。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SEMI12 | Q3 FY2026 Financial Results and Dividend | 2026-09-02</a:t>
            </a:r>
          </a:p>
          <a:p xmlns:a="http://schemas.openxmlformats.org/drawingml/2006/main">
            <a:r>
              <a:t>Financial statements and CEO quote</a:t>
            </a:r>
          </a:p>
          <a:p xmlns:a="http://schemas.openxmlformats.org/drawingml/2006/main">
            <a:r>
              <a:t>https://www.prnewswire.com/news-releases/broadcom-inc-announces-third-quarter-fiscal-year-2026-financial-results-and-quarterly-dividend-302868129.html</a:t>
            </a:r>
          </a:p>
          <a:p xmlns:a="http://schemas.openxmlformats.org/drawingml/2006/main">
            <a:r>
              <a:t>局限：半导体与软件利润混合；非GAAP剔除SBC，Q3SBC为2.019bnUSD；净债35.444bnUSD。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MP05 | Talen Q2 2026 Results Presentation | 2026-08-05</a:t>
            </a:r>
          </a:p>
          <a:p xmlns:a="http://schemas.openxmlformats.org/drawingml/2006/main">
            <a:r>
              <a:t>PDF第10/12/16–18/20–22页；印刷页码9/11/15–17/19–21</a:t>
            </a:r>
          </a:p>
          <a:p xmlns:a="http://schemas.openxmlformats.org/drawingml/2006/main">
            <a:r>
              <a:t>https://ir.talenenergy.com/static-files/bf510e55-32b6-4dc4-b863-5b59c086ba60</a:t>
            </a:r>
          </a:p>
          <a:p xmlns:a="http://schemas.openxmlformats.org/drawingml/2006/main">
            <a:r>
              <a:t>局限：2027/2028每股调整FCF为公司展望；基础固定47.9百万股；回购影响单列。2028仅30%发电量套保，仍有较高电价风险。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MP07 | Talen Q2 2026 Form 10-Q | 2026-08-05</a:t>
            </a:r>
          </a:p>
          <a:p xmlns:a="http://schemas.openxmlformats.org/drawingml/2006/main">
            <a:r>
              <a:t>印刷第5页现金流；第14页注8；第25–27页注13；第34/39页；第44页AWS词汇定义</a:t>
            </a:r>
          </a:p>
          <a:p xmlns:a="http://schemas.openxmlformats.org/drawingml/2006/main">
            <a:r>
              <a:t>https://www.sec.gov/Archives/edgar/data/1622536/000162253626000066/tln-20260630.htm</a:t>
            </a:r>
          </a:p>
          <a:p xmlns:a="http://schemas.openxmlformats.org/drawingml/2006/main">
            <a:r>
              <a:t>局限：股权奖励经济成本与未来增长投入仍需研究假设；495百万美元为集中到期奖励结算，不能年化。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P10 | Q2 2026 earnings release — SEC Exhibit 99.1 | 2026-07-29</a:t>
            </a:r>
          </a:p>
          <a:p xmlns:a="http://schemas.openxmlformats.org/drawingml/2006/main">
            <a:r>
              <a:t>2026Q2 / FY2026 guidance</a:t>
            </a:r>
          </a:p>
          <a:p xmlns:a="http://schemas.openxmlformats.org/drawingml/2006/main">
            <a:r>
              <a:t>https://www.sec.gov/Archives/edgar/data/1674101/000162828026050323/q22026exhibit991vrt07292026.htm</a:t>
            </a:r>
          </a:p>
          <a:p xmlns:a="http://schemas.openxmlformats.org/drawingml/2006/main">
            <a:r>
              <a:t>局限：液冷收入/利润未独立披露；不得将整体增长和利润率全部归因液冷。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P08 | Q2 2026 earnings release — SEC Exhibit 99 | 2026-07-31</a:t>
            </a:r>
          </a:p>
          <a:p xmlns:a="http://schemas.openxmlformats.org/drawingml/2006/main">
            <a:r>
              <a:t>2026Q2 / FY2026 guidance</a:t>
            </a:r>
          </a:p>
          <a:p xmlns:a="http://schemas.openxmlformats.org/drawingml/2006/main">
            <a:r>
              <a:t>https://www.sec.gov/Archives/edgar/data/1551182/000155118226000027/etn06302026exhibit99.htm</a:t>
            </a:r>
          </a:p>
          <a:p xmlns:a="http://schemas.openxmlformats.org/drawingml/2006/main">
            <a:r>
              <a:t>局限：headline增长包含并购；滚动12个月订单增速不是当季订单同比；调整EPS有大额摊销/交易费用剔除。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SEMI05 | FY2026Q2 Earnings Presentation | 2026-07-29</a:t>
            </a:r>
          </a:p>
          <a:p xmlns:a="http://schemas.openxmlformats.org/drawingml/2006/main">
            <a:r>
              <a:t>pp6,12,14,15</a:t>
            </a:r>
          </a:p>
          <a:p xmlns:a="http://schemas.openxmlformats.org/drawingml/2006/main">
            <a:r>
              <a:t>https://mis-prod-koce-homepage-cdn-01-blob-ep.azureedge.net/web/attach/13571040283022005.pdf</a:t>
            </a:r>
          </a:p>
          <a:p xmlns:a="http://schemas.openxmlformats.org/drawingml/2006/main">
            <a:r>
              <a:t>局限：数字四舍五入；p14 Q1 EPS21522与同表Q1净利40346bn/股数712m不一致，Q1EPS排除；新闻PDF声明尚未完成审阅。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SEMI01 | Q3 FY2026 Prepared Remarks | 2026-06-24</a:t>
            </a:r>
          </a:p>
          <a:p xmlns:a="http://schemas.openxmlformats.org/drawingml/2006/main">
            <a:r>
              <a:t>pp1–3</a:t>
            </a:r>
          </a:p>
          <a:p xmlns:a="http://schemas.openxmlformats.org/drawingml/2006/main">
            <a:r>
              <a:t>https://s25.q4cdn.com/621799436/files/doc_financials/2026/q3/Q3-FY26-Prepared-Remarks.pdf</a:t>
            </a:r>
          </a:p>
          <a:p xmlns:a="http://schemas.openxmlformats.org/drawingml/2006/main">
            <a:r>
              <a:t>局限：最低合同额跨至 2030 年；22bn 含存款和相关承诺，预计现金存款约 18bn；可退款，收款时列融资现金流。地板价格未公开。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P02 | Q2 2026 management transcript | 2026-07-22</a:t>
            </a:r>
          </a:p>
          <a:p xmlns:a="http://schemas.openxmlformats.org/drawingml/2006/main">
            <a:r>
              <a:t>2026Q2；2028/2030 capacity plans</a:t>
            </a:r>
          </a:p>
          <a:p xmlns:a="http://schemas.openxmlformats.org/drawingml/2006/main">
            <a:r>
              <a:t>https://www.gevernova.com/sites/default/files/gev_webcast_transcript_07222026.pdf</a:t>
            </a:r>
          </a:p>
          <a:p xmlns:a="http://schemas.openxmlformats.org/drawingml/2006/main">
            <a:r>
              <a:t>局限：公司管理层判断和扩产计划；SRA仅为产能预订，不等同正式设备积压。与P01属于同次业绩披露。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M01 | IEA Key Questions on Energy and AI | 2026-04-16</a:t>
            </a:r>
          </a:p>
          <a:p xmlns:a="http://schemas.openxmlformats.org/drawingml/2006/main">
            <a:r>
              <a:t>pp9–11,21–23,26–27,63–65</a:t>
            </a:r>
          </a:p>
          <a:p xmlns:a="http://schemas.openxmlformats.org/drawingml/2006/main">
            <a:r>
              <a:t>https://iea.blob.core.windows.net/assets/3179f7f8-01f6-4dd6-bffa-c9f7b73f1dc9/KeyQuestionsonEnergyandAI.pdf</a:t>
            </a:r>
          </a:p>
          <a:p xmlns:a="http://schemas.openxmlformats.org/drawingml/2006/main">
            <a:r>
              <a:t>局限：2030 为基准预测；并网申请量有重复和投机成分。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P02 | Q2 2026 management transcript | 2026-07-22</a:t>
            </a:r>
          </a:p>
          <a:p xmlns:a="http://schemas.openxmlformats.org/drawingml/2006/main">
            <a:r>
              <a:t>2026Q2；2028/2030 capacity plans</a:t>
            </a:r>
          </a:p>
          <a:p xmlns:a="http://schemas.openxmlformats.org/drawingml/2006/main">
            <a:r>
              <a:t>https://www.gevernova.com/sites/default/files/gev_webcast_transcript_07222026.pdf</a:t>
            </a:r>
          </a:p>
          <a:p xmlns:a="http://schemas.openxmlformats.org/drawingml/2006/main">
            <a:r>
              <a:t>局限：公司管理层判断和扩产计划；SRA仅为产能预订，不等同正式设备积压。与P01属于同次业绩披露。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P05 | Q3 FY2026 analyst presentation | 2026-08-05</a:t>
            </a:r>
          </a:p>
          <a:p xmlns:a="http://schemas.openxmlformats.org/drawingml/2006/main">
            <a:r>
              <a:t>FY2026Q3 / capacity to FY2030</a:t>
            </a:r>
          </a:p>
          <a:p xmlns:a="http://schemas.openxmlformats.org/drawingml/2006/main">
            <a:r>
              <a:t>https://assets.siemens-energy.com/dam/3e846440-66dd-4a56-be75-b49d004e6741/2026-08-05_Q3_Analyst_presentation-pdf_Original%20file.pdf</a:t>
            </a:r>
          </a:p>
          <a:p xmlns:a="http://schemas.openxmlformats.org/drawingml/2006/main">
            <a:r>
              <a:t>局限：扩产为公司计划；图表数值需要保留机组大小和单位，不能将台数与GW混用。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SEMI08 | Q2 2026 earnings call, management quotations hosted by Yahoo/Quartr | 2026-07-16</a:t>
            </a:r>
          </a:p>
          <a:p xmlns:a="http://schemas.openxmlformats.org/drawingml/2006/main">
            <a:r>
              <a:t>timestamps00:07:55,00:33:54,00:43:29,00:57:17</a:t>
            </a:r>
          </a:p>
          <a:p xmlns:a="http://schemas.openxmlformats.org/drawingml/2006/main">
            <a:r>
              <a:t>https://finance.yahoo.com/quote/TSM/earnings/TSM-Q2-2026-earnings_call-649922.html</a:t>
            </a:r>
          </a:p>
          <a:p xmlns:a="http://schemas.openxmlformats.org/drawingml/2006/main">
            <a:r>
              <a:t>局限：管理层原话二级转载，官方逐字稿链接已验证但无法保存正文；未采用外部未核实月产能数字。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M01 | IEA Key Questions on Energy and AI | 2026-04-16</a:t>
            </a:r>
          </a:p>
          <a:p xmlns:a="http://schemas.openxmlformats.org/drawingml/2006/main">
            <a:r>
              <a:t>pp9–11,21–23,26–27,63–65</a:t>
            </a:r>
          </a:p>
          <a:p xmlns:a="http://schemas.openxmlformats.org/drawingml/2006/main">
            <a:r>
              <a:t>https://iea.blob.core.windows.net/assets/3179f7f8-01f6-4dd6-bffa-c9f7b73f1dc9/KeyQuestionsonEnergyandAI.pdf</a:t>
            </a:r>
          </a:p>
          <a:p xmlns:a="http://schemas.openxmlformats.org/drawingml/2006/main">
            <a:r>
              <a:t>局限：2030 为基准预测；并网申请量有重复和投机成分。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M02 | Alphabet Q2 2026 earnings release | 2026-07-22</a:t>
            </a:r>
          </a:p>
          <a:p xmlns:a="http://schemas.openxmlformats.org/drawingml/2006/main">
            <a:r>
              <a:t>Income statement / cash flow / financing discussion</a:t>
            </a:r>
          </a:p>
          <a:p xmlns:a="http://schemas.openxmlformats.org/drawingml/2006/main">
            <a:r>
              <a:t>https://s206.q4cdn.com/479360582/files/doc_financials/2026/q2/2026q2-alphabet-earnings-release.pdf</a:t>
            </a:r>
          </a:p>
          <a:p xmlns:a="http://schemas.openxmlformats.org/drawingml/2006/main">
            <a:r>
              <a:t>局限：Cloud 包括非 AI 业务；单家公司不能代表全行业。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P02 | Q2 2026 management transcript | 2026-07-22</a:t>
            </a:r>
          </a:p>
          <a:p xmlns:a="http://schemas.openxmlformats.org/drawingml/2006/main">
            <a:r>
              <a:t>2026Q2；2028/2030 capacity plans</a:t>
            </a:r>
          </a:p>
          <a:p xmlns:a="http://schemas.openxmlformats.org/drawingml/2006/main">
            <a:r>
              <a:t>https://www.gevernova.com/sites/default/files/gev_webcast_transcript_07222026.pdf</a:t>
            </a:r>
          </a:p>
          <a:p xmlns:a="http://schemas.openxmlformats.org/drawingml/2006/main">
            <a:r>
              <a:t>局限：公司管理层判断和扩产计划；SRA仅为产能预订，不等同正式设备积压。与P01属于同次业绩披露。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P05 | Q3 FY2026 analyst presentation | 2026-08-05</a:t>
            </a:r>
          </a:p>
          <a:p xmlns:a="http://schemas.openxmlformats.org/drawingml/2006/main">
            <a:r>
              <a:t>FY2026Q3 / capacity to FY2030</a:t>
            </a:r>
          </a:p>
          <a:p xmlns:a="http://schemas.openxmlformats.org/drawingml/2006/main">
            <a:r>
              <a:t>https://assets.siemens-energy.com/dam/3e846440-66dd-4a56-be75-b49d004e6741/2026-08-05_Q3_Analyst_presentation-pdf_Original%20file.pdf</a:t>
            </a:r>
          </a:p>
          <a:p xmlns:a="http://schemas.openxmlformats.org/drawingml/2006/main">
            <a:r>
              <a:t>局限：扩产为公司计划；图表数值需要保留机组大小和单位，不能将台数与GW混用。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M01 | IEA Key Questions on Energy and AI | 2026-04-16</a:t>
            </a:r>
          </a:p>
          <a:p xmlns:a="http://schemas.openxmlformats.org/drawingml/2006/main">
            <a:r>
              <a:t>pp9–11,21–23,26–27,63–65</a:t>
            </a:r>
          </a:p>
          <a:p xmlns:a="http://schemas.openxmlformats.org/drawingml/2006/main">
            <a:r>
              <a:t>https://iea.blob.core.windows.net/assets/3179f7f8-01f6-4dd6-bffa-c9f7b73f1dc9/KeyQuestionsonEnergyandAI.pdf</a:t>
            </a:r>
          </a:p>
          <a:p xmlns:a="http://schemas.openxmlformats.org/drawingml/2006/main">
            <a:r>
              <a:t>局限：2030 为基准预测；并网申请量有重复和投机成分。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P01 | Q2 2026 earnings release | 2026-07-22</a:t>
            </a:r>
          </a:p>
          <a:p xmlns:a="http://schemas.openxmlformats.org/drawingml/2006/main">
            <a:r>
              <a:t>2026Q2 / H1 / FY2026 guidance</a:t>
            </a:r>
          </a:p>
          <a:p xmlns:a="http://schemas.openxmlformats.org/drawingml/2006/main">
            <a:r>
              <a:t>https://www.gevernova.com/sites/default/files/gev_webcast_pressrelease_07222026.pdf</a:t>
            </a:r>
          </a:p>
          <a:p xmlns:a="http://schemas.openxmlformats.org/drawingml/2006/main">
            <a:r>
              <a:t>局限：公司披露；含非GAAP指标、Prolec并表及长周期业务；全公司积压不等于AI订单。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P14 | Q2 2026 Form 10-Q | 2026-07-22</a:t>
            </a:r>
          </a:p>
          <a:p xmlns:a="http://schemas.openxmlformats.org/drawingml/2006/main">
            <a:r>
              <a:t>H1/Q2 ended 2026-06-30</a:t>
            </a:r>
          </a:p>
          <a:p xmlns:a="http://schemas.openxmlformats.org/drawingml/2006/main">
            <a:r>
              <a:t>https://www.gevernova.com/sites/default/files/gev_webcast_10q_07222026.pdf</a:t>
            </a:r>
          </a:p>
          <a:p xmlns:a="http://schemas.openxmlformats.org/drawingml/2006/main">
            <a:r>
              <a:t>局限：净利润含Prolec重新估值收益3992m；现金表头含restricted cash。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P04 | Q3 FY2026 earnings release and financial results | 2026-08-05</a:t>
            </a:r>
          </a:p>
          <a:p xmlns:a="http://schemas.openxmlformats.org/drawingml/2006/main">
            <a:r>
              <a:t>FY2026Q3 ended 2026-06-30 / FY2026 guidance</a:t>
            </a:r>
          </a:p>
          <a:p xmlns:a="http://schemas.openxmlformats.org/drawingml/2006/main">
            <a:r>
              <a:t>https://assets.siemens-energy.com/dam/30018eed-275d-4e73-811e-b49d004cdc3d/2026-08-05-Earnings_Release_Q3_FY26_EN-pdf_Original%20file.pdf</a:t>
            </a:r>
          </a:p>
          <a:p xmlns:a="http://schemas.openxmlformats.org/drawingml/2006/main">
            <a:r>
              <a:t>局限：财政年度截至9月；税前FCF指引不能和美国公司税后FCF直接比较。GS/GT积压包含大量非AI客户。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SEMI01 | Q3 FY2026 Prepared Remarks | 2026-06-24</a:t>
            </a:r>
          </a:p>
          <a:p xmlns:a="http://schemas.openxmlformats.org/drawingml/2006/main">
            <a:r>
              <a:t>pp1–3</a:t>
            </a:r>
          </a:p>
          <a:p xmlns:a="http://schemas.openxmlformats.org/drawingml/2006/main">
            <a:r>
              <a:t>https://s25.q4cdn.com/621799436/files/doc_financials/2026/q3/Q3-FY26-Prepared-Remarks.pdf</a:t>
            </a:r>
          </a:p>
          <a:p xmlns:a="http://schemas.openxmlformats.org/drawingml/2006/main">
            <a:r>
              <a:t>局限：最低合同额跨至 2030 年；22bn 含存款和相关承诺，预计现金存款约 18bn；可退款，收款时列融资现金流。地板价格未公开。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SEMI02 | Q3 FY2026 Prepared Remarks | 2026-06-24</a:t>
            </a:r>
          </a:p>
          <a:p xmlns:a="http://schemas.openxmlformats.org/drawingml/2006/main">
            <a:r>
              <a:t>pp2,4–6,10</a:t>
            </a:r>
          </a:p>
          <a:p xmlns:a="http://schemas.openxmlformats.org/drawingml/2006/main">
            <a:r>
              <a:t>https://s25.q4cdn.com/621799436/files/doc_financials/2026/q3/Q3-FY26-Prepared-Remarks.pdf</a:t>
            </a:r>
          </a:p>
          <a:p xmlns:a="http://schemas.openxmlformats.org/drawingml/2006/main">
            <a:r>
              <a:t>局限：2027紧张是供应商预测；对价格上限约束、成本上升和新增产能需做正常化估值。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SEMI05 | FY2026Q2 Earnings Presentation | 2026-07-29</a:t>
            </a:r>
          </a:p>
          <a:p xmlns:a="http://schemas.openxmlformats.org/drawingml/2006/main">
            <a:r>
              <a:t>pp6,12,14,15</a:t>
            </a:r>
          </a:p>
          <a:p xmlns:a="http://schemas.openxmlformats.org/drawingml/2006/main">
            <a:r>
              <a:t>https://mis-prod-koce-homepage-cdn-01-blob-ep.azureedge.net/web/attach/13571040283022005.pdf</a:t>
            </a:r>
          </a:p>
          <a:p xmlns:a="http://schemas.openxmlformats.org/drawingml/2006/main">
            <a:r>
              <a:t>局限：数字四舍五入；p14 Q1 EPS21522与同表Q1净利40346bn/股数712m不一致，Q1EPS排除；新闻PDF声明尚未完成审阅。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SEMI07 | Indiana HBM facility groundbreaking | 2026-08-28</a:t>
            </a:r>
          </a:p>
          <a:p xmlns:a="http://schemas.openxmlformats.org/drawingml/2006/main">
            <a:r>
              <a:t>Investment schedule</a:t>
            </a:r>
          </a:p>
          <a:p xmlns:a="http://schemas.openxmlformats.org/drawingml/2006/main">
            <a:r>
              <a:t>https://news.skhynix.com/en/groundbreaking-ceremony-in-indiana/</a:t>
            </a:r>
          </a:p>
          <a:p xmlns:a="http://schemas.openxmlformats.org/drawingml/2006/main">
            <a:r>
              <a:t>局限：韩国M15X/龙仁及其他公司扩产仍会在窗口内新增供给；美国项目只是局部。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SEMI11 | Second Quarter 2026 Results | 2026-07-30</a:t>
            </a:r>
          </a:p>
          <a:p xmlns:a="http://schemas.openxmlformats.org/drawingml/2006/main">
            <a:r>
              <a:t>DS division and outlook</a:t>
            </a:r>
          </a:p>
          <a:p xmlns:a="http://schemas.openxmlformats.org/drawingml/2006/main">
            <a:r>
              <a:t>https://news.samsung.com/global/samsung-electronics-announces-second-quarter-2026-results</a:t>
            </a:r>
          </a:p>
          <a:p xmlns:a="http://schemas.openxmlformats.org/drawingml/2006/main">
            <a:r>
              <a:t>局限：公司自称技术领先；未提供HBM单独毛利或份额；DS包括其他业务。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SEMI08 | Q2 2026 earnings call, management quotations hosted by Yahoo/Quartr | 2026-07-16</a:t>
            </a:r>
          </a:p>
          <a:p xmlns:a="http://schemas.openxmlformats.org/drawingml/2006/main">
            <a:r>
              <a:t>timestamps00:07:55,00:33:54,00:43:29,00:57:17</a:t>
            </a:r>
          </a:p>
          <a:p xmlns:a="http://schemas.openxmlformats.org/drawingml/2006/main">
            <a:r>
              <a:t>https://finance.yahoo.com/quote/TSM/earnings/TSM-Q2-2026-earnings_call-649922.html</a:t>
            </a:r>
          </a:p>
          <a:p xmlns:a="http://schemas.openxmlformats.org/drawingml/2006/main">
            <a:r>
              <a:t>局限：管理层原话二级转载，官方逐字稿链接已验证但无法保存正文；未采用外部未核实月产能数字。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MP01 | Constellation Reports Second Quarter 2026 Results | 2026-08-06</a:t>
            </a:r>
          </a:p>
          <a:p xmlns:a="http://schemas.openxmlformats.org/drawingml/2006/main">
            <a:r>
              <a:t>新闻稿；PDF 第1–4页：指引、Crane、新增PPA及调整盈利对账</a:t>
            </a:r>
          </a:p>
          <a:p xmlns:a="http://schemas.openxmlformats.org/drawingml/2006/main">
            <a:r>
              <a:t>https://www.constellationenergy.com/news/2026/08/constellation-reports-second-quarter-2026-results.html</a:t>
            </a:r>
          </a:p>
          <a:p xmlns:a="http://schemas.openxmlformats.org/drawingml/2006/main">
            <a:r>
              <a:t>局限：调整EPS为公司非GAAP口径；2027重启为目标；本季新增920MW合同2029–2032年开始。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MP02 | Constellation and Meta Sign 20-Year Clinton PPA | 2025-06-03</a:t>
            </a:r>
          </a:p>
          <a:p xmlns:a="http://schemas.openxmlformats.org/drawingml/2006/main">
            <a:r>
              <a:t>开头及ZEC替代、清洁能源属性段落</a:t>
            </a:r>
          </a:p>
          <a:p xmlns:a="http://schemas.openxmlformats.org/drawingml/2006/main">
            <a:r>
              <a:t>https://www.constellationenergy.com/news/2025/constellation-meta-sign-20-year-deal-for-clean-reliable-nuclear-energy-in-illinois.html</a:t>
            </a:r>
          </a:p>
          <a:p xmlns:a="http://schemas.openxmlformats.org/drawingml/2006/main">
            <a:r>
              <a:t>局限：1121MW主要为存量延续，仅30MW为增容；实际PPA单价和项目股东收益未披露。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MP03 | Constellation to Launch Crane Clean Energy Center | 2024-09-20</a:t>
            </a:r>
          </a:p>
          <a:p xmlns:a="http://schemas.openxmlformats.org/drawingml/2006/main">
            <a:r>
              <a:t>开头：微软20年PPA、约835MW及重启条件</a:t>
            </a:r>
          </a:p>
          <a:p xmlns:a="http://schemas.openxmlformats.org/drawingml/2006/main">
            <a:r>
              <a:t>https://www.constellationenergy.com/news/2024/Constellation-to-Launch-Crane-Clean-Energy-Center-Restoring-Jobs-and-Carbon-Free-Power-to-The-Grid.html</a:t>
            </a:r>
          </a:p>
          <a:p xmlns:a="http://schemas.openxmlformats.org/drawingml/2006/main">
            <a:r>
              <a:t>局限：原稿预计2028年投运；最新MP01已更新为2027年目标。合同成立不等于已投运。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MP04 | Talen Energy Reports Second Quarter 2026 Results, Raises 2026 Guidance | 2026-08-05</a:t>
            </a:r>
          </a:p>
          <a:p xmlns:a="http://schemas.openxmlformats.org/drawingml/2006/main">
            <a:r>
              <a:t>财务表、2026指引、调整FCF定义及对账</a:t>
            </a:r>
          </a:p>
          <a:p xmlns:a="http://schemas.openxmlformats.org/drawingml/2006/main">
            <a:r>
              <a:t>https://ir.talenenergy.com/news-releases/news-release-details/talen-energy-reports-second-quarter-2026-results-raises-2026/</a:t>
            </a:r>
          </a:p>
          <a:p xmlns:a="http://schemas.openxmlformats.org/drawingml/2006/main">
            <a:r>
              <a:t>局限：调整FCF已扣维护资本开支、核燃料、利息、现金税和养老金；排除开发/增长/转换资本开支及股权激励等。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MP05 | Talen Q2 2026 Results Presentation | 2026-08-05</a:t>
            </a:r>
          </a:p>
          <a:p xmlns:a="http://schemas.openxmlformats.org/drawingml/2006/main">
            <a:r>
              <a:t>PDF第10/12/16–18/20–22页；印刷页码9/11/15–17/19–21</a:t>
            </a:r>
          </a:p>
          <a:p xmlns:a="http://schemas.openxmlformats.org/drawingml/2006/main">
            <a:r>
              <a:t>https://ir.talenenergy.com/static-files/bf510e55-32b6-4dc4-b863-5b59c086ba60</a:t>
            </a:r>
          </a:p>
          <a:p xmlns:a="http://schemas.openxmlformats.org/drawingml/2006/main">
            <a:r>
              <a:t>局限：2027/2028每股调整FCF为公司展望；基础固定47.9百万股；回购影响单列。2028仅30%发电量套保，仍有较高电价风险。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MP06 | Talen Energy Expands Nuclear Energy Relationship with Amazon | 2025-06-11</a:t>
            </a:r>
          </a:p>
          <a:p xmlns:a="http://schemas.openxmlformats.org/drawingml/2006/main">
            <a:r>
              <a:t>开头：1920MW、2042年到期、最晚2032年全量供电</a:t>
            </a:r>
          </a:p>
          <a:p xmlns:a="http://schemas.openxmlformats.org/drawingml/2006/main">
            <a:r>
              <a:t>https://ir.talenenergy.com/news-releases/news-release-details/talen-energy-expands-nuclear-energy-relationship-amazon/</a:t>
            </a:r>
          </a:p>
          <a:p xmlns:a="http://schemas.openxmlformats.org/drawingml/2006/main">
            <a:r>
              <a:t>局限：全量1920MW分期爬坡；2026已完成供电模式转换不代表合同容量已全部兑现。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MP07 | Talen Q2 2026 Form 10-Q | 2026-08-05</a:t>
            </a:r>
          </a:p>
          <a:p xmlns:a="http://schemas.openxmlformats.org/drawingml/2006/main">
            <a:r>
              <a:t>印刷第5页现金流；第14页注8；第25–27页注13；第34/39页；第44页AWS词汇定义</a:t>
            </a:r>
          </a:p>
          <a:p xmlns:a="http://schemas.openxmlformats.org/drawingml/2006/main">
            <a:r>
              <a:t>https://www.sec.gov/Archives/edgar/data/1622536/000162253626000066/tln-20260630.htm</a:t>
            </a:r>
          </a:p>
          <a:p xmlns:a="http://schemas.openxmlformats.org/drawingml/2006/main">
            <a:r>
              <a:t>局限：股权奖励经济成本与未来增长投入仍需研究假设；495百万美元为集中到期奖励结算，不能年化。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MP08 | CEG Yahoo daily unadjusted close | 2026-09-04</a:t>
            </a:r>
          </a:p>
          <a:p xmlns:a="http://schemas.openxmlformats.org/drawingml/2006/main">
            <a:r>
              <a:t>2026-09-04日线；indicators.quote.close</a:t>
            </a:r>
          </a:p>
          <a:p xmlns:a="http://schemas.openxmlformats.org/drawingml/2006/main">
            <a:r>
              <a:t>https://query1.finance.yahoo.com/v8/finance/chart/CEG?interval=1d&amp;range=1mo</a:t>
            </a:r>
          </a:p>
          <a:p xmlns:a="http://schemas.openxmlformats.org/drawingml/2006/main">
            <a:r>
              <a:t>局限：价格为日线未调整收盘；时间戳为该日交易时段起点，不是收盘时刻。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MP09 | TLN Yahoo daily unadjusted close | 2026-09-04</a:t>
            </a:r>
          </a:p>
          <a:p xmlns:a="http://schemas.openxmlformats.org/drawingml/2006/main">
            <a:r>
              <a:t>2026-09-04日线；indicators.quote.close</a:t>
            </a:r>
          </a:p>
          <a:p xmlns:a="http://schemas.openxmlformats.org/drawingml/2006/main">
            <a:r>
              <a:t>https://query1.finance.yahoo.com/v8/finance/chart/TLN?interval=1d&amp;range=1mo</a:t>
            </a:r>
          </a:p>
          <a:p xmlns:a="http://schemas.openxmlformats.org/drawingml/2006/main">
            <a:r>
              <a:t>局限：价格为日线未调整收盘；时间戳为该日交易时段起点，不是收盘时刻。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MP01 | Constellation Reports Second Quarter 2026 Results | 2026-08-06</a:t>
            </a:r>
          </a:p>
          <a:p xmlns:a="http://schemas.openxmlformats.org/drawingml/2006/main">
            <a:r>
              <a:t>新闻稿；PDF 第1–4页：指引、Crane、新增PPA及调整盈利对账</a:t>
            </a:r>
          </a:p>
          <a:p xmlns:a="http://schemas.openxmlformats.org/drawingml/2006/main">
            <a:r>
              <a:t>https://www.constellationenergy.com/news/2026/08/constellation-reports-second-quarter-2026-results.html</a:t>
            </a:r>
          </a:p>
          <a:p xmlns:a="http://schemas.openxmlformats.org/drawingml/2006/main">
            <a:r>
              <a:t>局限：调整EPS为公司非GAAP口径；2027重启为目标；本季新增920MW合同2029–2032年开始。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MP02 | Constellation and Meta Sign 20-Year Clinton PPA | 2025-06-03</a:t>
            </a:r>
          </a:p>
          <a:p xmlns:a="http://schemas.openxmlformats.org/drawingml/2006/main">
            <a:r>
              <a:t>开头及ZEC替代、清洁能源属性段落</a:t>
            </a:r>
          </a:p>
          <a:p xmlns:a="http://schemas.openxmlformats.org/drawingml/2006/main">
            <a:r>
              <a:t>https://www.constellationenergy.com/news/2025/constellation-meta-sign-20-year-deal-for-clean-reliable-nuclear-energy-in-illinois.html</a:t>
            </a:r>
          </a:p>
          <a:p xmlns:a="http://schemas.openxmlformats.org/drawingml/2006/main">
            <a:r>
              <a:t>局限：1121MW主要为存量延续，仅30MW为增容；实际PPA单价和项目股东收益未披露。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MP03 | Constellation to Launch Crane Clean Energy Center | 2024-09-20</a:t>
            </a:r>
          </a:p>
          <a:p xmlns:a="http://schemas.openxmlformats.org/drawingml/2006/main">
            <a:r>
              <a:t>开头：微软20年PPA、约835MW及重启条件</a:t>
            </a:r>
          </a:p>
          <a:p xmlns:a="http://schemas.openxmlformats.org/drawingml/2006/main">
            <a:r>
              <a:t>https://www.constellationenergy.com/news/2024/Constellation-to-Launch-Crane-Clean-Energy-Center-Restoring-Jobs-and-Carbon-Free-Power-to-The-Grid.html</a:t>
            </a:r>
          </a:p>
          <a:p xmlns:a="http://schemas.openxmlformats.org/drawingml/2006/main">
            <a:r>
              <a:t>局限：原稿预计2028年投运；最新MP01已更新为2027年目标。合同成立不等于已投运。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MP04 | Talen Energy Reports Second Quarter 2026 Results, Raises 2026 Guidance | 2026-08-05</a:t>
            </a:r>
          </a:p>
          <a:p xmlns:a="http://schemas.openxmlformats.org/drawingml/2006/main">
            <a:r>
              <a:t>财务表、2026指引、调整FCF定义及对账</a:t>
            </a:r>
          </a:p>
          <a:p xmlns:a="http://schemas.openxmlformats.org/drawingml/2006/main">
            <a:r>
              <a:t>https://ir.talenenergy.com/news-releases/news-release-details/talen-energy-reports-second-quarter-2026-results-raises-2026/</a:t>
            </a:r>
          </a:p>
          <a:p xmlns:a="http://schemas.openxmlformats.org/drawingml/2006/main">
            <a:r>
              <a:t>局限：调整FCF已扣维护资本开支、核燃料、利息、现金税和养老金；排除开发/增长/转换资本开支及股权激励等。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MP05 | Talen Q2 2026 Results Presentation | 2026-08-05</a:t>
            </a:r>
          </a:p>
          <a:p xmlns:a="http://schemas.openxmlformats.org/drawingml/2006/main">
            <a:r>
              <a:t>PDF第10/12/16–18/20–22页；印刷页码9/11/15–17/19–21</a:t>
            </a:r>
          </a:p>
          <a:p xmlns:a="http://schemas.openxmlformats.org/drawingml/2006/main">
            <a:r>
              <a:t>https://ir.talenenergy.com/static-files/bf510e55-32b6-4dc4-b863-5b59c086ba60</a:t>
            </a:r>
          </a:p>
          <a:p xmlns:a="http://schemas.openxmlformats.org/drawingml/2006/main">
            <a:r>
              <a:t>局限：2027/2028每股调整FCF为公司展望；基础固定47.9百万股；回购影响单列。2028仅30%发电量套保，仍有较高电价风险。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MP06 | Talen Energy Expands Nuclear Energy Relationship with Amazon | 2025-06-11</a:t>
            </a:r>
          </a:p>
          <a:p xmlns:a="http://schemas.openxmlformats.org/drawingml/2006/main">
            <a:r>
              <a:t>开头：1920MW、2042年到期、最晚2032年全量供电</a:t>
            </a:r>
          </a:p>
          <a:p xmlns:a="http://schemas.openxmlformats.org/drawingml/2006/main">
            <a:r>
              <a:t>https://ir.talenenergy.com/news-releases/news-release-details/talen-energy-expands-nuclear-energy-relationship-amazon/</a:t>
            </a:r>
          </a:p>
          <a:p xmlns:a="http://schemas.openxmlformats.org/drawingml/2006/main">
            <a:r>
              <a:t>局限：全量1920MW分期爬坡；2026已完成供电模式转换不代表合同容量已全部兑现。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MP07 | Talen Q2 2026 Form 10-Q | 2026-08-05</a:t>
            </a:r>
          </a:p>
          <a:p xmlns:a="http://schemas.openxmlformats.org/drawingml/2006/main">
            <a:r>
              <a:t>印刷第5页现金流；第14页注8；第25–27页注13；第34/39页；第44页AWS词汇定义</a:t>
            </a:r>
          </a:p>
          <a:p xmlns:a="http://schemas.openxmlformats.org/drawingml/2006/main">
            <a:r>
              <a:t>https://www.sec.gov/Archives/edgar/data/1622536/000162253626000066/tln-20260630.htm</a:t>
            </a:r>
          </a:p>
          <a:p xmlns:a="http://schemas.openxmlformats.org/drawingml/2006/main">
            <a:r>
              <a:t>局限：股权奖励经济成本与未来增长投入仍需研究假设；495百万美元为集中到期奖励结算，不能年化。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MP08 | CEG Yahoo daily unadjusted close | 2026-09-04</a:t>
            </a:r>
          </a:p>
          <a:p xmlns:a="http://schemas.openxmlformats.org/drawingml/2006/main">
            <a:r>
              <a:t>2026-09-04日线；indicators.quote.close</a:t>
            </a:r>
          </a:p>
          <a:p xmlns:a="http://schemas.openxmlformats.org/drawingml/2006/main">
            <a:r>
              <a:t>https://query1.finance.yahoo.com/v8/finance/chart/CEG?interval=1d&amp;range=1mo</a:t>
            </a:r>
          </a:p>
          <a:p xmlns:a="http://schemas.openxmlformats.org/drawingml/2006/main">
            <a:r>
              <a:t>局限：价格为日线未调整收盘；时间戳为该日交易时段起点，不是收盘时刻。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MP09 | TLN Yahoo daily unadjusted close | 2026-09-04</a:t>
            </a:r>
          </a:p>
          <a:p xmlns:a="http://schemas.openxmlformats.org/drawingml/2006/main">
            <a:r>
              <a:t>2026-09-04日线；indicators.quote.close</a:t>
            </a:r>
          </a:p>
          <a:p xmlns:a="http://schemas.openxmlformats.org/drawingml/2006/main">
            <a:r>
              <a:t>https://query1.finance.yahoo.com/v8/finance/chart/TLN?interval=1d&amp;range=1mo</a:t>
            </a:r>
          </a:p>
          <a:p xmlns:a="http://schemas.openxmlformats.org/drawingml/2006/main">
            <a:r>
              <a:t>局限：价格为日线未调整收盘；时间戳为该日交易时段起点，不是收盘时刻。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SEMI09 | Q2 2026 Consolidated Financial Report | 2026-08-14</a:t>
            </a:r>
          </a:p>
          <a:p xmlns:a="http://schemas.openxmlformats.org/drawingml/2006/main">
            <a:r>
              <a:t>合并损益表、现金流量表；Note13；Note25</a:t>
            </a:r>
          </a:p>
          <a:p xmlns:a="http://schemas.openxmlformats.org/drawingml/2006/main">
            <a:r>
              <a:t>https://www.sec.gov/Archives/edgar/data/1046179/000104617926000541/a2026q2consolidatedreport-.htm</a:t>
            </a:r>
          </a:p>
          <a:p xmlns:a="http://schemas.openxmlformats.org/drawingml/2006/main">
            <a:r>
              <a:t>局限：原披露单位为千新台币；底稿换算为百万新台币。ADS＝5 普通股；Q2 的 VIS 处置及重估收益在估值中剔除。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SEMI08 | Q2 2026 earnings call, management quotations hosted by Yahoo/Quartr | 2026-07-16</a:t>
            </a:r>
          </a:p>
          <a:p xmlns:a="http://schemas.openxmlformats.org/drawingml/2006/main">
            <a:r>
              <a:t>timestamps00:07:55,00:33:54,00:43:29,00:57:17</a:t>
            </a:r>
          </a:p>
          <a:p xmlns:a="http://schemas.openxmlformats.org/drawingml/2006/main">
            <a:r>
              <a:t>https://finance.yahoo.com/quote/TSM/earnings/TSM-Q2-2026-earnings_call-649922.html</a:t>
            </a:r>
          </a:p>
          <a:p xmlns:a="http://schemas.openxmlformats.org/drawingml/2006/main">
            <a:r>
              <a:t>局限：管理层原话二级转载，官方逐字稿链接已验证但无法保存正文；未采用外部未核实月产能数字。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F01 | TSMC 2025 Form 20-F | 2026-04-16</a:t>
            </a:r>
          </a:p>
          <a:p xmlns:a="http://schemas.openxmlformats.org/drawingml/2006/main">
            <a:r>
              <a:t>F-8、F-11、Note32；ADS beneficial ownership note (2)</a:t>
            </a:r>
          </a:p>
          <a:p xmlns:a="http://schemas.openxmlformats.org/drawingml/2006/main">
            <a:r>
              <a:t>https://www.sec.gov/Archives/edgar/data/1046179/000162828026025362/tsm-20251231.htm</a:t>
            </a:r>
          </a:p>
          <a:p xmlns:a="http://schemas.openxmlformats.org/drawingml/2006/main">
            <a:r>
              <a:t>局限：每 ADS 为 5 普通股；历史 EPS 含非经常损益。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F01 | TSMC 2025 Form 20-F | 2026-04-16</a:t>
            </a:r>
          </a:p>
          <a:p xmlns:a="http://schemas.openxmlformats.org/drawingml/2006/main">
            <a:r>
              <a:t>F-8、F-11、Note32；ADS beneficial ownership note (2)</a:t>
            </a:r>
          </a:p>
          <a:p xmlns:a="http://schemas.openxmlformats.org/drawingml/2006/main">
            <a:r>
              <a:t>https://www.sec.gov/Archives/edgar/data/1046179/000162828026025362/tsm-20251231.htm</a:t>
            </a:r>
          </a:p>
          <a:p xmlns:a="http://schemas.openxmlformats.org/drawingml/2006/main">
            <a:r>
              <a:t>局限：每 ADS 为 5 普通股；历史 EPS 含非经常损益。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Q01 | TSM 报价 | 2026-09-04</a:t>
            </a:r>
          </a:p>
          <a:p xmlns:a="http://schemas.openxmlformats.org/drawingml/2006/main">
            <a:r>
              <a:t>2026-09-04T16:00:02-04:00</a:t>
            </a:r>
          </a:p>
          <a:p xmlns:a="http://schemas.openxmlformats.org/drawingml/2006/main">
            <a:r>
              <a:t>https://query1.finance.yahoo.com/v8/finance/chart/TSM?interval=1d&amp;range=1mo</a:t>
            </a:r>
          </a:p>
          <a:p xmlns:a="http://schemas.openxmlformats.org/drawingml/2006/main">
            <a:r>
              <a:t>局限：Yahoo日线未调整收盘；各市场收盘不同步。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Q02 | 2330.TW 报价 | 2026-09-04</a:t>
            </a:r>
          </a:p>
          <a:p xmlns:a="http://schemas.openxmlformats.org/drawingml/2006/main">
            <a:r>
              <a:t>2026-09-04T13:30:12+08:00</a:t>
            </a:r>
          </a:p>
          <a:p xmlns:a="http://schemas.openxmlformats.org/drawingml/2006/main">
            <a:r>
              <a:t>https://query1.finance.yahoo.com/v8/finance/chart/2330.TW?interval=1d&amp;range=1mo</a:t>
            </a:r>
          </a:p>
          <a:p xmlns:a="http://schemas.openxmlformats.org/drawingml/2006/main">
            <a:r>
              <a:t>局限：Yahoo日线未调整收盘；各市场收盘不同步。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FX1 | TWD=X 汇率 | 2026-09-04</a:t>
            </a:r>
          </a:p>
          <a:p xmlns:a="http://schemas.openxmlformats.org/drawingml/2006/main">
            <a:r>
              <a:t>TWD per USD</a:t>
            </a:r>
          </a:p>
          <a:p xmlns:a="http://schemas.openxmlformats.org/drawingml/2006/main">
            <a:r>
              <a:t>https://query1.finance.yahoo.com/v8/finance/chart/TWD=X?interval=1d&amp;range=5d</a:t>
            </a:r>
          </a:p>
          <a:p xmlns:a="http://schemas.openxmlformats.org/drawingml/2006/main">
            <a:r>
              <a:t>局限：历史日线；非同一瞬间的可交易换汇价格。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SEMI10 | Q2 FY2027 Earnings Release | 2026-08-26</a:t>
            </a:r>
          </a:p>
          <a:p xmlns:a="http://schemas.openxmlformats.org/drawingml/2006/main">
            <a:r>
              <a:t>Income statement/cash flow statement</a:t>
            </a:r>
          </a:p>
          <a:p xmlns:a="http://schemas.openxmlformats.org/drawingml/2006/main">
            <a:r>
              <a:t>https://nvidianews.nvidia.com/news/nvidia-announces-financial-results-for-second-quarter-fiscal-2027</a:t>
            </a:r>
          </a:p>
          <a:p xmlns:a="http://schemas.openxmlformats.org/drawingml/2006/main">
            <a:r>
              <a:t>局限：Q3为指引；中国出口限制及ASIC竞争风险；证券收益与供应融资需单列，不能直接以净利年化。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SEMI12 | Q3 FY2026 Financial Results and Dividend | 2026-09-02</a:t>
            </a:r>
          </a:p>
          <a:p xmlns:a="http://schemas.openxmlformats.org/drawingml/2006/main">
            <a:r>
              <a:t>Financial statements and CEO quote</a:t>
            </a:r>
          </a:p>
          <a:p xmlns:a="http://schemas.openxmlformats.org/drawingml/2006/main">
            <a:r>
              <a:t>https://www.prnewswire.com/news-releases/broadcom-inc-announces-third-quarter-fiscal-year-2026-financial-results-and-quarterly-dividend-302868129.html</a:t>
            </a:r>
          </a:p>
          <a:p xmlns:a="http://schemas.openxmlformats.org/drawingml/2006/main">
            <a:r>
              <a:t>局限：半导体与软件利润混合；非GAAP剔除SBC，Q3SBC为2.019bnUSD；净债35.444bnUSD。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P13 | Half Year 2026 Results | 2026-07-30</a:t>
            </a:r>
          </a:p>
          <a:p xmlns:a="http://schemas.openxmlformats.org/drawingml/2006/main">
            <a:r>
              <a:t>2026H1 / Q2 / FY2026 targets</a:t>
            </a:r>
          </a:p>
          <a:p xmlns:a="http://schemas.openxmlformats.org/drawingml/2006/main">
            <a:r>
              <a:t>https://www.se.com/ww/en/assets/pdf/release-hy-results-2026</a:t>
            </a:r>
          </a:p>
          <a:p xmlns:a="http://schemas.openxmlformats.org/drawingml/2006/main">
            <a:r>
              <a:t>局限：运营现金流在公司该表中为营运资本变动前口径；FCF同比含去年罚款基数；无液冷独立收入/利润。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P04 | Q3 FY2026 earnings release and financial results | 2026-08-05</a:t>
            </a:r>
          </a:p>
          <a:p xmlns:a="http://schemas.openxmlformats.org/drawingml/2006/main">
            <a:r>
              <a:t>FY2026Q3 ended 2026-06-30 / FY2026 guidance</a:t>
            </a:r>
          </a:p>
          <a:p xmlns:a="http://schemas.openxmlformats.org/drawingml/2006/main">
            <a:r>
              <a:t>https://assets.siemens-energy.com/dam/30018eed-275d-4e73-811e-b49d004cdc3d/2026-08-05-Earnings_Release_Q3_FY26_EN-pdf_Original%20file.pdf</a:t>
            </a:r>
          </a:p>
          <a:p xmlns:a="http://schemas.openxmlformats.org/drawingml/2006/main">
            <a:r>
              <a:t>局限：财政年度截至9月；税前FCF指引不能和美国公司税后FCF直接比较。GS/GT积压包含大量非AI客户。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P05 | Q3 FY2026 analyst presentation | 2026-08-05</a:t>
            </a:r>
          </a:p>
          <a:p xmlns:a="http://schemas.openxmlformats.org/drawingml/2006/main">
            <a:r>
              <a:t>FY2026Q3 / capacity to FY2030</a:t>
            </a:r>
          </a:p>
          <a:p xmlns:a="http://schemas.openxmlformats.org/drawingml/2006/main">
            <a:r>
              <a:t>https://assets.siemens-energy.com/dam/3e846440-66dd-4a56-be75-b49d004e6741/2026-08-05_Q3_Analyst_presentation-pdf_Original%20file.pdf</a:t>
            </a:r>
          </a:p>
          <a:p xmlns:a="http://schemas.openxmlformats.org/drawingml/2006/main">
            <a:r>
              <a:t>局限：扩产为公司计划；图表数值需要保留机组大小和单位，不能将台数与GW混用。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P08 | Q2 2026 earnings release — SEC Exhibit 99 | 2026-07-31</a:t>
            </a:r>
          </a:p>
          <a:p xmlns:a="http://schemas.openxmlformats.org/drawingml/2006/main">
            <a:r>
              <a:t>2026Q2 / FY2026 guidance</a:t>
            </a:r>
          </a:p>
          <a:p xmlns:a="http://schemas.openxmlformats.org/drawingml/2006/main">
            <a:r>
              <a:t>https://www.sec.gov/Archives/edgar/data/1551182/000155118226000027/etn06302026exhibit99.htm</a:t>
            </a:r>
          </a:p>
          <a:p xmlns:a="http://schemas.openxmlformats.org/drawingml/2006/main">
            <a:r>
              <a:t>局限：headline增长包含并购；滚动12个月订单增速不是当季订单同比；调整EPS有大额摊销/交易费用剔除。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P09 | Q2 2026 Form 10-Q | 2026-07-31</a:t>
            </a:r>
          </a:p>
          <a:p xmlns:a="http://schemas.openxmlformats.org/drawingml/2006/main">
            <a:r>
              <a:t>2026Q2 / H1 ended 2026-06-30</a:t>
            </a:r>
          </a:p>
          <a:p xmlns:a="http://schemas.openxmlformats.org/drawingml/2006/main">
            <a:r>
              <a:t>https://www.sec.gov/Archives/edgar/data/1551182/000155118226000030/etn-20260630.htm</a:t>
            </a:r>
          </a:p>
          <a:p xmlns:a="http://schemas.openxmlformats.org/drawingml/2006/main">
            <a:r>
              <a:t>局限：积压定义为客户明确承诺订单，但公司没有将数据中心/AI积压独立量化。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P10 | Q2 2026 earnings release — SEC Exhibit 99.1 | 2026-07-29</a:t>
            </a:r>
          </a:p>
          <a:p xmlns:a="http://schemas.openxmlformats.org/drawingml/2006/main">
            <a:r>
              <a:t>2026Q2 / FY2026 guidance</a:t>
            </a:r>
          </a:p>
          <a:p xmlns:a="http://schemas.openxmlformats.org/drawingml/2006/main">
            <a:r>
              <a:t>https://www.sec.gov/Archives/edgar/data/1674101/000162828026050323/q22026exhibit991vrt07292026.htm</a:t>
            </a:r>
          </a:p>
          <a:p xmlns:a="http://schemas.openxmlformats.org/drawingml/2006/main">
            <a:r>
              <a:t>局限：液冷收入/利润未独立披露；不得将整体增长和利润率全部归因液冷。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P11 | Q2 2026 Form 10-Q | 2026-07-29</a:t>
            </a:r>
          </a:p>
          <a:p xmlns:a="http://schemas.openxmlformats.org/drawingml/2006/main">
            <a:r>
              <a:t>2026Q2 / H1 ended 2026-06-30</a:t>
            </a:r>
          </a:p>
          <a:p xmlns:a="http://schemas.openxmlformats.org/drawingml/2006/main">
            <a:r>
              <a:t>https://www.sec.gov/Archives/edgar/data/1674101/000162828026050609/vrt-20260630.htm</a:t>
            </a:r>
          </a:p>
          <a:p xmlns:a="http://schemas.openxmlformats.org/drawingml/2006/main">
            <a:r>
              <a:t>局限：存在营运资本及预收收入现金流贡献；6月底净现金并非研究日并购完成后的现金状况。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P12 | Utility Innovation Holdings acquisition — Form 8-K | 2026-09-02</a:t>
            </a:r>
          </a:p>
          <a:p xmlns:a="http://schemas.openxmlformats.org/drawingml/2006/main">
            <a:r>
              <a:t>Agreement dated 2026-09-01; expected close Q4 2026</a:t>
            </a:r>
          </a:p>
          <a:p xmlns:a="http://schemas.openxmlformats.org/drawingml/2006/main">
            <a:r>
              <a:t>https://www.sec.gov/Archives/edgar/data/1674101/000119312526379306/d472406d8k.htm</a:t>
            </a:r>
          </a:p>
          <a:p xmlns:a="http://schemas.openxmlformats.org/drawingml/2006/main">
            <a:r>
              <a:t>局限：尚未交割；最高earnout取决于EBITDA目标，不能全部视为已付，也不能全忽略。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SEMI01 | Q3 FY2026 Prepared Remarks | 2026-06-24</a:t>
            </a:r>
          </a:p>
          <a:p xmlns:a="http://schemas.openxmlformats.org/drawingml/2006/main">
            <a:r>
              <a:t>pp1–3</a:t>
            </a:r>
          </a:p>
          <a:p xmlns:a="http://schemas.openxmlformats.org/drawingml/2006/main">
            <a:r>
              <a:t>https://s25.q4cdn.com/621799436/files/doc_financials/2026/q3/Q3-FY26-Prepared-Remarks.pdf</a:t>
            </a:r>
          </a:p>
          <a:p xmlns:a="http://schemas.openxmlformats.org/drawingml/2006/main">
            <a:r>
              <a:t>局限：最低合同额跨至 2030 年；22bn 含存款和相关承诺，预计现金存款约 18bn；可退款，收款时列融资现金流。地板价格未公开。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SEMI03 | FY2026Q3 Release | 2026-06-24</a:t>
            </a:r>
          </a:p>
          <a:p xmlns:a="http://schemas.openxmlformats.org/drawingml/2006/main">
            <a:r>
              <a:t>财务报表与 FCF 对账</a:t>
            </a:r>
          </a:p>
          <a:p xmlns:a="http://schemas.openxmlformats.org/drawingml/2006/main">
            <a:r>
              <a:t>https://investors.micron.com/news/press-release/2026/Micron-Technology-Inc--Reports-Record-Results-for-the-Third-Quarter-of-Fiscal-2026/default.aspx</a:t>
            </a:r>
          </a:p>
          <a:p xmlns:a="http://schemas.openxmlformats.org/drawingml/2006/main">
            <a:r>
              <a:t>局限：季度毛利84.6%异常高，不作为永续正常率；披露FCF包含补助净额，与普通FCF不同。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SEMI05 | FY2026Q2 Earnings Presentation | 2026-07-29</a:t>
            </a:r>
          </a:p>
          <a:p xmlns:a="http://schemas.openxmlformats.org/drawingml/2006/main">
            <a:r>
              <a:t>pp6,12,14,15</a:t>
            </a:r>
          </a:p>
          <a:p xmlns:a="http://schemas.openxmlformats.org/drawingml/2006/main">
            <a:r>
              <a:t>https://mis-prod-koce-homepage-cdn-01-blob-ep.azureedge.net/web/attach/13571040283022005.pdf</a:t>
            </a:r>
          </a:p>
          <a:p xmlns:a="http://schemas.openxmlformats.org/drawingml/2006/main">
            <a:r>
              <a:t>局限：数字四舍五入；p14 Q1 EPS21522与同表Q1净利40346bn/股数712m不一致，Q1EPS排除；新闻PDF声明尚未完成审阅。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SEMI06 | Share buyback and retirement | 2026-08-19</a:t>
            </a:r>
          </a:p>
          <a:p xmlns:a="http://schemas.openxmlformats.org/drawingml/2006/main">
            <a:r>
              <a:t>Board resolution announcement</a:t>
            </a:r>
          </a:p>
          <a:p xmlns:a="http://schemas.openxmlformats.org/drawingml/2006/main">
            <a:r>
              <a:t>https://news.skhynix.com/en/share-buyback-and-retirement/</a:t>
            </a:r>
          </a:p>
          <a:p xmlns:a="http://schemas.openxmlformats.org/drawingml/2006/main">
            <a:r>
              <a:t>局限：截至9月5日尚未完成全部回购；不等于已注销；公司认为低估是观点，非独立估值。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SEMI11 | Second Quarter 2026 Results | 2026-07-30</a:t>
            </a:r>
          </a:p>
          <a:p xmlns:a="http://schemas.openxmlformats.org/drawingml/2006/main">
            <a:r>
              <a:t>DS division and outlook</a:t>
            </a:r>
          </a:p>
          <a:p xmlns:a="http://schemas.openxmlformats.org/drawingml/2006/main">
            <a:r>
              <a:t>https://news.samsung.com/global/samsung-electronics-announces-second-quarter-2026-results</a:t>
            </a:r>
          </a:p>
          <a:p xmlns:a="http://schemas.openxmlformats.org/drawingml/2006/main">
            <a:r>
              <a:t>局限：公司自称技术领先；未提供HBM单独毛利或份额；DS包括其他业务。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SEMI08 | Q2 2026 earnings call, management quotations hosted by Yahoo/Quartr | 2026-07-16</a:t>
            </a:r>
          </a:p>
          <a:p xmlns:a="http://schemas.openxmlformats.org/drawingml/2006/main">
            <a:r>
              <a:t>timestamps00:07:55,00:33:54,00:43:29,00:57:17</a:t>
            </a:r>
          </a:p>
          <a:p xmlns:a="http://schemas.openxmlformats.org/drawingml/2006/main">
            <a:r>
              <a:t>https://finance.yahoo.com/quote/TSM/earnings/TSM-Q2-2026-earnings_call-649922.html</a:t>
            </a:r>
          </a:p>
          <a:p xmlns:a="http://schemas.openxmlformats.org/drawingml/2006/main">
            <a:r>
              <a:t>局限：管理层原话二级转载，官方逐字稿链接已验证但无法保存正文；未采用外部未核实月产能数字。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SEMI09 | Q2 2026 Consolidated Financial Report | 2026-08-14</a:t>
            </a:r>
          </a:p>
          <a:p xmlns:a="http://schemas.openxmlformats.org/drawingml/2006/main">
            <a:r>
              <a:t>合并损益表、现金流量表；Note13；Note25</a:t>
            </a:r>
          </a:p>
          <a:p xmlns:a="http://schemas.openxmlformats.org/drawingml/2006/main">
            <a:r>
              <a:t>https://www.sec.gov/Archives/edgar/data/1046179/000104617926000541/a2026q2consolidatedreport-.htm</a:t>
            </a:r>
          </a:p>
          <a:p xmlns:a="http://schemas.openxmlformats.org/drawingml/2006/main">
            <a:r>
              <a:t>局限：原披露单位为千新台币；底稿换算为百万新台币。ADS＝5 普通股；Q2 的 VIS 处置及重估收益在估值中剔除。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F01 | TSMC 2025 Form 20-F | 2026-04-16</a:t>
            </a:r>
          </a:p>
          <a:p xmlns:a="http://schemas.openxmlformats.org/drawingml/2006/main">
            <a:r>
              <a:t>F-8、F-11、Note32；ADS beneficial ownership note (2)</a:t>
            </a:r>
          </a:p>
          <a:p xmlns:a="http://schemas.openxmlformats.org/drawingml/2006/main">
            <a:r>
              <a:t>https://www.sec.gov/Archives/edgar/data/1046179/000162828026025362/tsm-20251231.htm</a:t>
            </a:r>
          </a:p>
          <a:p xmlns:a="http://schemas.openxmlformats.org/drawingml/2006/main">
            <a:r>
              <a:t>局限：每 ADS 为 5 普通股；历史 EPS 含非经常损益。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MP04 | Talen Energy Reports Second Quarter 2026 Results, Raises 2026 Guidance | 2026-08-05</a:t>
            </a:r>
          </a:p>
          <a:p xmlns:a="http://schemas.openxmlformats.org/drawingml/2006/main">
            <a:r>
              <a:t>财务表、2026指引、调整FCF定义及对账</a:t>
            </a:r>
          </a:p>
          <a:p xmlns:a="http://schemas.openxmlformats.org/drawingml/2006/main">
            <a:r>
              <a:t>https://ir.talenenergy.com/news-releases/news-release-details/talen-energy-reports-second-quarter-2026-results-raises-2026/</a:t>
            </a:r>
          </a:p>
          <a:p xmlns:a="http://schemas.openxmlformats.org/drawingml/2006/main">
            <a:r>
              <a:t>局限：调整FCF已扣维护资本开支、核燃料、利息、现金税和养老金；排除开发/增长/转换资本开支及股权激励等。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MP05 | Talen Q2 2026 Results Presentation | 2026-08-05</a:t>
            </a:r>
          </a:p>
          <a:p xmlns:a="http://schemas.openxmlformats.org/drawingml/2006/main">
            <a:r>
              <a:t>PDF第10/12/16–18/20–22页；印刷页码9/11/15–17/19–21</a:t>
            </a:r>
          </a:p>
          <a:p xmlns:a="http://schemas.openxmlformats.org/drawingml/2006/main">
            <a:r>
              <a:t>https://ir.talenenergy.com/static-files/bf510e55-32b6-4dc4-b863-5b59c086ba60</a:t>
            </a:r>
          </a:p>
          <a:p xmlns:a="http://schemas.openxmlformats.org/drawingml/2006/main">
            <a:r>
              <a:t>局限：2027/2028每股调整FCF为公司展望；基础固定47.9百万股；回购影响单列。2028仅30%发电量套保，仍有较高电价风险。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MP06 | Talen Energy Expands Nuclear Energy Relationship with Amazon | 2025-06-11</a:t>
            </a:r>
          </a:p>
          <a:p xmlns:a="http://schemas.openxmlformats.org/drawingml/2006/main">
            <a:r>
              <a:t>开头：1920MW、2042年到期、最晚2032年全量供电</a:t>
            </a:r>
          </a:p>
          <a:p xmlns:a="http://schemas.openxmlformats.org/drawingml/2006/main">
            <a:r>
              <a:t>https://ir.talenenergy.com/news-releases/news-release-details/talen-energy-expands-nuclear-energy-relationship-amazon/</a:t>
            </a:r>
          </a:p>
          <a:p xmlns:a="http://schemas.openxmlformats.org/drawingml/2006/main">
            <a:r>
              <a:t>局限：全量1920MW分期爬坡；2026已完成供电模式转换不代表合同容量已全部兑现。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MP07 | Talen Q2 2026 Form 10-Q | 2026-08-05</a:t>
            </a:r>
          </a:p>
          <a:p xmlns:a="http://schemas.openxmlformats.org/drawingml/2006/main">
            <a:r>
              <a:t>印刷第5页现金流；第14页注8；第25–27页注13；第34/39页；第44页AWS词汇定义</a:t>
            </a:r>
          </a:p>
          <a:p xmlns:a="http://schemas.openxmlformats.org/drawingml/2006/main">
            <a:r>
              <a:t>https://www.sec.gov/Archives/edgar/data/1622536/000162253626000066/tln-20260630.htm</a:t>
            </a:r>
          </a:p>
          <a:p xmlns:a="http://schemas.openxmlformats.org/drawingml/2006/main">
            <a:r>
              <a:t>局限：股权奖励经济成本与未来增长投入仍需研究假设；495百万美元为集中到期奖励结算，不能年化。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MP09 | TLN Yahoo daily unadjusted close | 2026-09-04</a:t>
            </a:r>
          </a:p>
          <a:p xmlns:a="http://schemas.openxmlformats.org/drawingml/2006/main">
            <a:r>
              <a:t>2026-09-04日线；indicators.quote.close</a:t>
            </a:r>
          </a:p>
          <a:p xmlns:a="http://schemas.openxmlformats.org/drawingml/2006/main">
            <a:r>
              <a:t>https://query1.finance.yahoo.com/v8/finance/chart/TLN?interval=1d&amp;range=1mo</a:t>
            </a:r>
          </a:p>
          <a:p xmlns:a="http://schemas.openxmlformats.org/drawingml/2006/main">
            <a:r>
              <a:t>局限：价格为日线未调整收盘；时间戳为该日交易时段起点，不是收盘时刻。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SEMI10 | Q2 FY2027 Earnings Release | 2026-08-26</a:t>
            </a:r>
          </a:p>
          <a:p xmlns:a="http://schemas.openxmlformats.org/drawingml/2006/main">
            <a:r>
              <a:t>Income statement/cash flow statement</a:t>
            </a:r>
          </a:p>
          <a:p xmlns:a="http://schemas.openxmlformats.org/drawingml/2006/main">
            <a:r>
              <a:t>https://nvidianews.nvidia.com/news/nvidia-announces-financial-results-for-second-quarter-fiscal-2027</a:t>
            </a:r>
          </a:p>
          <a:p xmlns:a="http://schemas.openxmlformats.org/drawingml/2006/main">
            <a:r>
              <a:t>局限：Q3为指引；中国出口限制及ASIC竞争风险；证券收益与供应融资需单列，不能直接以净利年化。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P13 | Half Year 2026 Results | 2026-07-30</a:t>
            </a:r>
          </a:p>
          <a:p xmlns:a="http://schemas.openxmlformats.org/drawingml/2006/main">
            <a:r>
              <a:t>2026H1 / Q2 / FY2026 targets</a:t>
            </a:r>
          </a:p>
          <a:p xmlns:a="http://schemas.openxmlformats.org/drawingml/2006/main">
            <a:r>
              <a:t>https://www.se.com/ww/en/assets/pdf/release-hy-results-2026</a:t>
            </a:r>
          </a:p>
          <a:p xmlns:a="http://schemas.openxmlformats.org/drawingml/2006/main">
            <a:r>
              <a:t>局限：运营现金流在公司该表中为营运资本变动前口径；FCF同比含去年罚款基数；无液冷独立收入/利润。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P04 | Q3 FY2026 earnings release and financial results | 2026-08-05</a:t>
            </a:r>
          </a:p>
          <a:p xmlns:a="http://schemas.openxmlformats.org/drawingml/2006/main">
            <a:r>
              <a:t>FY2026Q3 ended 2026-06-30 / FY2026 guidance</a:t>
            </a:r>
          </a:p>
          <a:p xmlns:a="http://schemas.openxmlformats.org/drawingml/2006/main">
            <a:r>
              <a:t>https://assets.siemens-energy.com/dam/30018eed-275d-4e73-811e-b49d004cdc3d/2026-08-05-Earnings_Release_Q3_FY26_EN-pdf_Original%20file.pdf</a:t>
            </a:r>
          </a:p>
          <a:p xmlns:a="http://schemas.openxmlformats.org/drawingml/2006/main">
            <a:r>
              <a:t>局限：财政年度截至9月；税前FCF指引不能和美国公司税后FCF直接比较。GS/GT积压包含大量非AI客户。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P05 | Q3 FY2026 analyst presentation | 2026-08-05</a:t>
            </a:r>
          </a:p>
          <a:p xmlns:a="http://schemas.openxmlformats.org/drawingml/2006/main">
            <a:r>
              <a:t>FY2026Q3 / capacity to FY2030</a:t>
            </a:r>
          </a:p>
          <a:p xmlns:a="http://schemas.openxmlformats.org/drawingml/2006/main">
            <a:r>
              <a:t>https://assets.siemens-energy.com/dam/3e846440-66dd-4a56-be75-b49d004e6741/2026-08-05_Q3_Analyst_presentation-pdf_Original%20file.pdf</a:t>
            </a:r>
          </a:p>
          <a:p xmlns:a="http://schemas.openxmlformats.org/drawingml/2006/main">
            <a:r>
              <a:t>局限：扩产为公司计划；图表数值需要保留机组大小和单位，不能将台数与GW混用。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P06 | 2025 Capital Market Day — Gas Services | 2025-11-20</a:t>
            </a:r>
          </a:p>
          <a:p xmlns:a="http://schemas.openxmlformats.org/drawingml/2006/main">
            <a:r>
              <a:t>FY2024-2030</a:t>
            </a:r>
          </a:p>
          <a:p xmlns:a="http://schemas.openxmlformats.org/drawingml/2006/main">
            <a:r>
              <a:t>https://assets.siemens-energy.com/dam/5fc093ca-4fd8-482c-8390-b39b004f66f3/251120_CMD-2025_Gas_Services_FINAL-pdf_Original%20file.pdf</a:t>
            </a:r>
          </a:p>
          <a:p xmlns:a="http://schemas.openxmlformats.org/drawingml/2006/main">
            <a:r>
              <a:t>局限：2025年预测，扩产进度以2026年P05更新；GW口径包含联合循环蒸汽轮机容量。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P07 | 2025 Capital Market Day — Grid Technologies | 2025-11-20</a:t>
            </a:r>
          </a:p>
          <a:p xmlns:a="http://schemas.openxmlformats.org/drawingml/2006/main">
            <a:r>
              <a:t>FY2023-2030</a:t>
            </a:r>
          </a:p>
          <a:p xmlns:a="http://schemas.openxmlformats.org/drawingml/2006/main">
            <a:r>
              <a:t>https://assets.siemens-energy.com/dam/d8d5d849-a7a9-4b19-a969-b39b004f6c26/251120_CMD-2025_Grid_Technologies_FINAL-pdf_Original%20file.pdf</a:t>
            </a:r>
          </a:p>
          <a:p xmlns:a="http://schemas.openxmlformats.org/drawingml/2006/main">
            <a:r>
              <a:t>局限：市场缺口图由公司内部估计，不能当独立行业统计；投资包含变压器、开关设备及地产。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SEMI12 | Q3 FY2026 Financial Results and Dividend | 2026-09-02</a:t>
            </a:r>
          </a:p>
          <a:p xmlns:a="http://schemas.openxmlformats.org/drawingml/2006/main">
            <a:r>
              <a:t>Financial statements and CEO quote</a:t>
            </a:r>
          </a:p>
          <a:p xmlns:a="http://schemas.openxmlformats.org/drawingml/2006/main">
            <a:r>
              <a:t>https://www.prnewswire.com/news-releases/broadcom-inc-announces-third-quarter-fiscal-year-2026-financial-results-and-quarterly-dividend-302868129.html</a:t>
            </a:r>
          </a:p>
          <a:p xmlns:a="http://schemas.openxmlformats.org/drawingml/2006/main">
            <a:r>
              <a:t>局限：半导体与软件利润混合；非GAAP剔除SBC，Q3SBC为2.019bnUSD；净债35.444bnUSD。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P10 | Q2 2026 earnings release — SEC Exhibit 99.1 | 2026-07-29</a:t>
            </a:r>
          </a:p>
          <a:p xmlns:a="http://schemas.openxmlformats.org/drawingml/2006/main">
            <a:r>
              <a:t>2026Q2 / FY2026 guidance</a:t>
            </a:r>
          </a:p>
          <a:p xmlns:a="http://schemas.openxmlformats.org/drawingml/2006/main">
            <a:r>
              <a:t>https://www.sec.gov/Archives/edgar/data/1674101/000162828026050323/q22026exhibit991vrt07292026.htm</a:t>
            </a:r>
          </a:p>
          <a:p xmlns:a="http://schemas.openxmlformats.org/drawingml/2006/main">
            <a:r>
              <a:t>局限：液冷收入/利润未独立披露；不得将整体增长和利润率全部归因液冷。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P11 | Q2 2026 Form 10-Q | 2026-07-29</a:t>
            </a:r>
          </a:p>
          <a:p xmlns:a="http://schemas.openxmlformats.org/drawingml/2006/main">
            <a:r>
              <a:t>2026Q2 / H1 ended 2026-06-30</a:t>
            </a:r>
          </a:p>
          <a:p xmlns:a="http://schemas.openxmlformats.org/drawingml/2006/main">
            <a:r>
              <a:t>https://www.sec.gov/Archives/edgar/data/1674101/000162828026050609/vrt-20260630.htm</a:t>
            </a:r>
          </a:p>
          <a:p xmlns:a="http://schemas.openxmlformats.org/drawingml/2006/main">
            <a:r>
              <a:t>局限：存在营运资本及预收收入现金流贡献；6月底净现金并非研究日并购完成后的现金状况。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P12 | Utility Innovation Holdings acquisition — Form 8-K | 2026-09-02</a:t>
            </a:r>
          </a:p>
          <a:p xmlns:a="http://schemas.openxmlformats.org/drawingml/2006/main">
            <a:r>
              <a:t>Agreement dated 2026-09-01; expected close Q4 2026</a:t>
            </a:r>
          </a:p>
          <a:p xmlns:a="http://schemas.openxmlformats.org/drawingml/2006/main">
            <a:r>
              <a:t>https://www.sec.gov/Archives/edgar/data/1674101/000119312526379306/d472406d8k.htm</a:t>
            </a:r>
          </a:p>
          <a:p xmlns:a="http://schemas.openxmlformats.org/drawingml/2006/main">
            <a:r>
              <a:t>局限：尚未交割；最高earnout取决于EBITDA目标，不能全部视为已付，也不能全忽略。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P08 | Q2 2026 earnings release — SEC Exhibit 99 | 2026-07-31</a:t>
            </a:r>
          </a:p>
          <a:p xmlns:a="http://schemas.openxmlformats.org/drawingml/2006/main">
            <a:r>
              <a:t>2026Q2 / FY2026 guidance</a:t>
            </a:r>
          </a:p>
          <a:p xmlns:a="http://schemas.openxmlformats.org/drawingml/2006/main">
            <a:r>
              <a:t>https://www.sec.gov/Archives/edgar/data/1551182/000155118226000027/etn06302026exhibit99.htm</a:t>
            </a:r>
          </a:p>
          <a:p xmlns:a="http://schemas.openxmlformats.org/drawingml/2006/main">
            <a:r>
              <a:t>局限：headline增长包含并购；滚动12个月订单增速不是当季订单同比；调整EPS有大额摊销/交易费用剔除。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P09 | Q2 2026 Form 10-Q | 2026-07-31</a:t>
            </a:r>
          </a:p>
          <a:p xmlns:a="http://schemas.openxmlformats.org/drawingml/2006/main">
            <a:r>
              <a:t>2026Q2 / H1 ended 2026-06-30</a:t>
            </a:r>
          </a:p>
          <a:p xmlns:a="http://schemas.openxmlformats.org/drawingml/2006/main">
            <a:r>
              <a:t>https://www.sec.gov/Archives/edgar/data/1551182/000155118226000030/etn-20260630.htm</a:t>
            </a:r>
          </a:p>
          <a:p xmlns:a="http://schemas.openxmlformats.org/drawingml/2006/main">
            <a:r>
              <a:t>局限：积压定义为客户明确承诺订单，但公司没有将数据中心/AI积压独立量化。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SEMI04 | FY2026Q2 Earnings Release | 2026-07-29</a:t>
            </a:r>
          </a:p>
          <a:p xmlns:a="http://schemas.openxmlformats.org/drawingml/2006/main">
            <a:r>
              <a:t>Main press release</a:t>
            </a:r>
          </a:p>
          <a:p xmlns:a="http://schemas.openxmlformats.org/drawingml/2006/main">
            <a:r>
              <a:t>https://news.skhynix.com/en/q2-2026-business-results/</a:t>
            </a:r>
          </a:p>
          <a:p xmlns:a="http://schemas.openxmlformats.org/drawingml/2006/main">
            <a:r>
              <a:t>局限：公司声称技术领先，未提供独立验证份额或HBM单独毛利，不能沿用旧HBM市占率。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SEMI05 | FY2026Q2 Earnings Presentation | 2026-07-29</a:t>
            </a:r>
          </a:p>
          <a:p xmlns:a="http://schemas.openxmlformats.org/drawingml/2006/main">
            <a:r>
              <a:t>pp6,12,14,15</a:t>
            </a:r>
          </a:p>
          <a:p xmlns:a="http://schemas.openxmlformats.org/drawingml/2006/main">
            <a:r>
              <a:t>https://mis-prod-koce-homepage-cdn-01-blob-ep.azureedge.net/web/attach/13571040283022005.pdf</a:t>
            </a:r>
          </a:p>
          <a:p xmlns:a="http://schemas.openxmlformats.org/drawingml/2006/main">
            <a:r>
              <a:t>局限：数字四舍五入；p14 Q1 EPS21522与同表Q1净利40346bn/股数712m不一致，Q1EPS排除；新闻PDF声明尚未完成审阅。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SEMI06 | Share buyback and retirement | 2026-08-19</a:t>
            </a:r>
          </a:p>
          <a:p xmlns:a="http://schemas.openxmlformats.org/drawingml/2006/main">
            <a:r>
              <a:t>Board resolution announcement</a:t>
            </a:r>
          </a:p>
          <a:p xmlns:a="http://schemas.openxmlformats.org/drawingml/2006/main">
            <a:r>
              <a:t>https://news.skhynix.com/en/share-buyback-and-retirement/</a:t>
            </a:r>
          </a:p>
          <a:p xmlns:a="http://schemas.openxmlformats.org/drawingml/2006/main">
            <a:r>
              <a:t>局限：截至9月5日尚未完成全部回购；不等于已注销；公司认为低估是观点，非独立估值。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SEMI07 | Indiana HBM facility groundbreaking | 2026-08-28</a:t>
            </a:r>
          </a:p>
          <a:p xmlns:a="http://schemas.openxmlformats.org/drawingml/2006/main">
            <a:r>
              <a:t>Investment schedule</a:t>
            </a:r>
          </a:p>
          <a:p xmlns:a="http://schemas.openxmlformats.org/drawingml/2006/main">
            <a:r>
              <a:t>https://news.skhynix.com/en/groundbreaking-ceremony-in-indiana/</a:t>
            </a:r>
          </a:p>
          <a:p xmlns:a="http://schemas.openxmlformats.org/drawingml/2006/main">
            <a:r>
              <a:t>局限：韩国M15X/龙仁及其他公司扩产仍会在窗口内新增供给；美国项目只是局部。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SEMI11 | Second Quarter 2026 Results | 2026-07-30</a:t>
            </a:r>
          </a:p>
          <a:p xmlns:a="http://schemas.openxmlformats.org/drawingml/2006/main">
            <a:r>
              <a:t>DS division and outlook</a:t>
            </a:r>
          </a:p>
          <a:p xmlns:a="http://schemas.openxmlformats.org/drawingml/2006/main">
            <a:r>
              <a:t>https://news.samsung.com/global/samsung-electronics-announces-second-quarter-2026-results</a:t>
            </a:r>
          </a:p>
          <a:p xmlns:a="http://schemas.openxmlformats.org/drawingml/2006/main">
            <a:r>
              <a:t>局限：公司自称技术领先；未提供HBM单独毛利或份额；DS包括其他业务。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SEMI01 | Q3 FY2026 Prepared Remarks | 2026-06-24</a:t>
            </a:r>
          </a:p>
          <a:p xmlns:a="http://schemas.openxmlformats.org/drawingml/2006/main">
            <a:r>
              <a:t>pp1–3</a:t>
            </a:r>
          </a:p>
          <a:p xmlns:a="http://schemas.openxmlformats.org/drawingml/2006/main">
            <a:r>
              <a:t>https://s25.q4cdn.com/621799436/files/doc_financials/2026/q3/Q3-FY26-Prepared-Remarks.pdf</a:t>
            </a:r>
          </a:p>
          <a:p xmlns:a="http://schemas.openxmlformats.org/drawingml/2006/main">
            <a:r>
              <a:t>局限：最低合同额跨至 2030 年；22bn 含存款和相关承诺，预计现金存款约 18bn；可退款，收款时列融资现金流。地板价格未公开。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SEMI02 | Q3 FY2026 Prepared Remarks | 2026-06-24</a:t>
            </a:r>
          </a:p>
          <a:p xmlns:a="http://schemas.openxmlformats.org/drawingml/2006/main">
            <a:r>
              <a:t>pp2,4–6,10</a:t>
            </a:r>
          </a:p>
          <a:p xmlns:a="http://schemas.openxmlformats.org/drawingml/2006/main">
            <a:r>
              <a:t>https://s25.q4cdn.com/621799436/files/doc_financials/2026/q3/Q3-FY26-Prepared-Remarks.pdf</a:t>
            </a:r>
          </a:p>
          <a:p xmlns:a="http://schemas.openxmlformats.org/drawingml/2006/main">
            <a:r>
              <a:t>局限：2027紧张是供应商预测；对价格上限约束、成本上升和新增产能需做正常化估值。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SEMI03 | FY2026Q3 Release | 2026-06-24</a:t>
            </a:r>
          </a:p>
          <a:p xmlns:a="http://schemas.openxmlformats.org/drawingml/2006/main">
            <a:r>
              <a:t>财务报表与 FCF 对账</a:t>
            </a:r>
          </a:p>
          <a:p xmlns:a="http://schemas.openxmlformats.org/drawingml/2006/main">
            <a:r>
              <a:t>https://investors.micron.com/news/press-release/2026/Micron-Technology-Inc--Reports-Record-Results-for-the-Third-Quarter-of-Fiscal-2026/default.aspx</a:t>
            </a:r>
          </a:p>
          <a:p xmlns:a="http://schemas.openxmlformats.org/drawingml/2006/main">
            <a:r>
              <a:t>局限：季度毛利84.6%异常高，不作为永续正常率；披露FCF包含补助净额，与普通FCF不同。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 | Micron SEC companyfacts | 2026-06-25</a:t>
            </a:r>
          </a:p>
          <a:p xmlns:a="http://schemas.openxmlformats.org/drawingml/2006/main">
            <a:r>
              <a:t>accn 0000723125-26-000015；YTD 2025-08-29 至 2026-05-28</a:t>
            </a:r>
          </a:p>
          <a:p xmlns:a="http://schemas.openxmlformats.org/drawingml/2006/main">
            <a:r>
              <a:t>https://data.sec.gov/api/xbrl/companyfacts/CIK0000723125.json</a:t>
            </a:r>
          </a:p>
          <a:p xmlns:a="http://schemas.openxmlformats.org/drawingml/2006/main">
            <a:r>
              <a:t>局限：YTD 不是单季；公司 FCF 与标准 CFO－PP&amp;E 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P01 | Q2 2026 earnings release | 2026-07-22</a:t>
            </a:r>
          </a:p>
          <a:p xmlns:a="http://schemas.openxmlformats.org/drawingml/2006/main">
            <a:r>
              <a:t>2026Q2 / H1 / FY2026 guidance</a:t>
            </a:r>
          </a:p>
          <a:p xmlns:a="http://schemas.openxmlformats.org/drawingml/2006/main">
            <a:r>
              <a:t>https://www.gevernova.com/sites/default/files/gev_webcast_pressrelease_07222026.pdf</a:t>
            </a:r>
          </a:p>
          <a:p xmlns:a="http://schemas.openxmlformats.org/drawingml/2006/main">
            <a:r>
              <a:t>局限：公司披露；含非GAAP指标、Prolec并表及长周期业务；全公司积压不等于AI订单。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P02 | Q2 2026 management transcript | 2026-07-22</a:t>
            </a:r>
          </a:p>
          <a:p xmlns:a="http://schemas.openxmlformats.org/drawingml/2006/main">
            <a:r>
              <a:t>2026Q2；2028/2030 capacity plans</a:t>
            </a:r>
          </a:p>
          <a:p xmlns:a="http://schemas.openxmlformats.org/drawingml/2006/main">
            <a:r>
              <a:t>https://www.gevernova.com/sites/default/files/gev_webcast_transcript_07222026.pdf</a:t>
            </a:r>
          </a:p>
          <a:p xmlns:a="http://schemas.openxmlformats.org/drawingml/2006/main">
            <a:r>
              <a:t>局限：公司管理层判断和扩产计划；SRA仅为产能预订，不等同正式设备积压。与P01属于同次业绩披露。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P03 | Q2 2026 investor presentation | 2026-07-22</a:t>
            </a:r>
          </a:p>
          <a:p xmlns:a="http://schemas.openxmlformats.org/drawingml/2006/main">
            <a:r>
              <a:t>2026Q2</a:t>
            </a:r>
          </a:p>
          <a:p xmlns:a="http://schemas.openxmlformats.org/drawingml/2006/main">
            <a:r>
              <a:t>https://www.gevernova.com/sites/default/files/gev_webcast_presentation_07222026.pdf</a:t>
            </a:r>
          </a:p>
          <a:p xmlns:a="http://schemas.openxmlformats.org/drawingml/2006/main">
            <a:r>
              <a:t>局限：与P01/P02为同次披露，不能视作独立第三方交叉验证。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P14 | Q2 2026 Form 10-Q | 2026-07-22</a:t>
            </a:r>
          </a:p>
          <a:p xmlns:a="http://schemas.openxmlformats.org/drawingml/2006/main">
            <a:r>
              <a:t>H1/Q2 ended 2026-06-30</a:t>
            </a:r>
          </a:p>
          <a:p xmlns:a="http://schemas.openxmlformats.org/drawingml/2006/main">
            <a:r>
              <a:t>https://www.gevernova.com/sites/default/files/gev_webcast_10q_07222026.pdf</a:t>
            </a:r>
          </a:p>
          <a:p xmlns:a="http://schemas.openxmlformats.org/drawingml/2006/main">
            <a:r>
              <a:t>局限：净利润含Prolec重新估值收益3992m；现金表头含restricted cash。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SEMI08 | Q2 2026 earnings call, management quotations hosted by Yahoo/Quartr | 2026-07-16</a:t>
            </a:r>
          </a:p>
          <a:p xmlns:a="http://schemas.openxmlformats.org/drawingml/2006/main">
            <a:r>
              <a:t>timestamps00:07:55,00:33:54,00:43:29,00:57:17</a:t>
            </a:r>
          </a:p>
          <a:p xmlns:a="http://schemas.openxmlformats.org/drawingml/2006/main">
            <a:r>
              <a:t>https://finance.yahoo.com/quote/TSM/earnings/TSM-Q2-2026-earnings_call-649922.html</a:t>
            </a:r>
          </a:p>
          <a:p xmlns:a="http://schemas.openxmlformats.org/drawingml/2006/main">
            <a:r>
              <a:t>局限：管理层原话二级转载，官方逐字稿链接已验证但无法保存正文；未采用外部未核实月产能数字。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SEMI09 | Q2 2026 Consolidated Financial Report | 2026-08-14</a:t>
            </a:r>
          </a:p>
          <a:p xmlns:a="http://schemas.openxmlformats.org/drawingml/2006/main">
            <a:r>
              <a:t>合并损益表、现金流量表；Note13；Note25</a:t>
            </a:r>
          </a:p>
          <a:p xmlns:a="http://schemas.openxmlformats.org/drawingml/2006/main">
            <a:r>
              <a:t>https://www.sec.gov/Archives/edgar/data/1046179/000104617926000541/a2026q2consolidatedreport-.htm</a:t>
            </a:r>
          </a:p>
          <a:p xmlns:a="http://schemas.openxmlformats.org/drawingml/2006/main">
            <a:r>
              <a:t>局限：原披露单位为千新台币；底稿换算为百万新台币。ADS＝5 普通股；Q2 的 VIS 处置及重估收益在估值中剔除。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F01 | TSMC 2025 Form 20-F | 2026-04-16</a:t>
            </a:r>
          </a:p>
          <a:p xmlns:a="http://schemas.openxmlformats.org/drawingml/2006/main">
            <a:r>
              <a:t>F-8、F-11、Note32；ADS beneficial ownership note (2)</a:t>
            </a:r>
          </a:p>
          <a:p xmlns:a="http://schemas.openxmlformats.org/drawingml/2006/main">
            <a:r>
              <a:t>https://www.sec.gov/Archives/edgar/data/1046179/000162828026025362/tsm-20251231.htm</a:t>
            </a:r>
          </a:p>
          <a:p xmlns:a="http://schemas.openxmlformats.org/drawingml/2006/main">
            <a:r>
              <a:t>局限：每 ADS 为 5 普通股；历史 EPS 含非经常损益。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MP04 | Talen Energy Reports Second Quarter 2026 Results, Raises 2026 Guidance | 2026-08-05</a:t>
            </a:r>
          </a:p>
          <a:p xmlns:a="http://schemas.openxmlformats.org/drawingml/2006/main">
            <a:r>
              <a:t>财务表、2026指引、调整FCF定义及对账</a:t>
            </a:r>
          </a:p>
          <a:p xmlns:a="http://schemas.openxmlformats.org/drawingml/2006/main">
            <a:r>
              <a:t>https://ir.talenenergy.com/news-releases/news-release-details/talen-energy-reports-second-quarter-2026-results-raises-2026/</a:t>
            </a:r>
          </a:p>
          <a:p xmlns:a="http://schemas.openxmlformats.org/drawingml/2006/main">
            <a:r>
              <a:t>局限：调整FCF已扣维护资本开支、核燃料、利息、现金税和养老金；排除开发/增长/转换资本开支及股权激励等。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MP05 | Talen Q2 2026 Results Presentation | 2026-08-05</a:t>
            </a:r>
          </a:p>
          <a:p xmlns:a="http://schemas.openxmlformats.org/drawingml/2006/main">
            <a:r>
              <a:t>PDF第10/12/16–18/20–22页；印刷页码9/11/15–17/19–21</a:t>
            </a:r>
          </a:p>
          <a:p xmlns:a="http://schemas.openxmlformats.org/drawingml/2006/main">
            <a:r>
              <a:t>https://ir.talenenergy.com/static-files/bf510e55-32b6-4dc4-b863-5b59c086ba60</a:t>
            </a:r>
          </a:p>
          <a:p xmlns:a="http://schemas.openxmlformats.org/drawingml/2006/main">
            <a:r>
              <a:t>局限：2027/2028每股调整FCF为公司展望；基础固定47.9百万股；回购影响单列。2028仅30%发电量套保，仍有较高电价风险。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MP06 | Talen Energy Expands Nuclear Energy Relationship with Amazon | 2025-06-11</a:t>
            </a:r>
          </a:p>
          <a:p xmlns:a="http://schemas.openxmlformats.org/drawingml/2006/main">
            <a:r>
              <a:t>开头：1920MW、2042年到期、最晚2032年全量供电</a:t>
            </a:r>
          </a:p>
          <a:p xmlns:a="http://schemas.openxmlformats.org/drawingml/2006/main">
            <a:r>
              <a:t>https://ir.talenenergy.com/news-releases/news-release-details/talen-energy-expands-nuclear-energy-relationship-amazon/</a:t>
            </a:r>
          </a:p>
          <a:p xmlns:a="http://schemas.openxmlformats.org/drawingml/2006/main">
            <a:r>
              <a:t>局限：全量1920MW分期爬坡；2026已完成供电模式转换不代表合同容量已全部兑现。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MP07 | Talen Q2 2026 Form 10-Q | 2026-08-05</a:t>
            </a:r>
          </a:p>
          <a:p xmlns:a="http://schemas.openxmlformats.org/drawingml/2006/main">
            <a:r>
              <a:t>印刷第5页现金流；第14页注8；第25–27页注13；第34/39页；第44页AWS词汇定义</a:t>
            </a:r>
          </a:p>
          <a:p xmlns:a="http://schemas.openxmlformats.org/drawingml/2006/main">
            <a:r>
              <a:t>https://www.sec.gov/Archives/edgar/data/1622536/000162253626000066/tln-20260630.htm</a:t>
            </a:r>
          </a:p>
          <a:p xmlns:a="http://schemas.openxmlformats.org/drawingml/2006/main">
            <a:r>
              <a:t>局限：股权奖励经济成本与未来增长投入仍需研究假设；495百万美元为集中到期奖励结算，不能年化。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MP09 | TLN Yahoo daily unadjusted close | 2026-09-04</a:t>
            </a:r>
          </a:p>
          <a:p xmlns:a="http://schemas.openxmlformats.org/drawingml/2006/main">
            <a:r>
              <a:t>2026-09-04日线；indicators.quote.close</a:t>
            </a:r>
          </a:p>
          <a:p xmlns:a="http://schemas.openxmlformats.org/drawingml/2006/main">
            <a:r>
              <a:t>https://query1.finance.yahoo.com/v8/finance/chart/TLN?interval=1d&amp;range=1mo</a:t>
            </a:r>
          </a:p>
          <a:p xmlns:a="http://schemas.openxmlformats.org/drawingml/2006/main">
            <a:r>
              <a:t>局限：价格为日线未调整收盘；时间戳为该日交易时段起点，不是收盘时刻。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SEMI10 | Q2 FY2027 Earnings Release | 2026-08-26</a:t>
            </a:r>
          </a:p>
          <a:p xmlns:a="http://schemas.openxmlformats.org/drawingml/2006/main">
            <a:r>
              <a:t>Income statement/cash flow statement</a:t>
            </a:r>
          </a:p>
          <a:p xmlns:a="http://schemas.openxmlformats.org/drawingml/2006/main">
            <a:r>
              <a:t>https://nvidianews.nvidia.com/news/nvidia-announces-financial-results-for-second-quarter-fiscal-2027</a:t>
            </a:r>
          </a:p>
          <a:p xmlns:a="http://schemas.openxmlformats.org/drawingml/2006/main">
            <a:r>
              <a:t>局限：Q3为指引；中国出口限制及ASIC竞争风险；证券收益与供应融资需单列，不能直接以净利年化。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P13 | Half Year 2026 Results | 2026-07-30</a:t>
            </a:r>
          </a:p>
          <a:p xmlns:a="http://schemas.openxmlformats.org/drawingml/2006/main">
            <a:r>
              <a:t>2026H1 / Q2 / FY2026 targets</a:t>
            </a:r>
          </a:p>
          <a:p xmlns:a="http://schemas.openxmlformats.org/drawingml/2006/main">
            <a:r>
              <a:t>https://www.se.com/ww/en/assets/pdf/release-hy-results-2026</a:t>
            </a:r>
          </a:p>
          <a:p xmlns:a="http://schemas.openxmlformats.org/drawingml/2006/main">
            <a:r>
              <a:t>局限：运营现金流在公司该表中为营运资本变动前口径；FCF同比含去年罚款基数；无液冷独立收入/利润。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P04 | Q3 FY2026 earnings release and financial results | 2026-08-05</a:t>
            </a:r>
          </a:p>
          <a:p xmlns:a="http://schemas.openxmlformats.org/drawingml/2006/main">
            <a:r>
              <a:t>FY2026Q3 ended 2026-06-30 / FY2026 guidance</a:t>
            </a:r>
          </a:p>
          <a:p xmlns:a="http://schemas.openxmlformats.org/drawingml/2006/main">
            <a:r>
              <a:t>https://assets.siemens-energy.com/dam/30018eed-275d-4e73-811e-b49d004cdc3d/2026-08-05-Earnings_Release_Q3_FY26_EN-pdf_Original%20file.pdf</a:t>
            </a:r>
          </a:p>
          <a:p xmlns:a="http://schemas.openxmlformats.org/drawingml/2006/main">
            <a:r>
              <a:t>局限：财政年度截至9月；税前FCF指引不能和美国公司税后FCF直接比较。GS/GT积压包含大量非AI客户。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P05 | Q3 FY2026 analyst presentation | 2026-08-05</a:t>
            </a:r>
          </a:p>
          <a:p xmlns:a="http://schemas.openxmlformats.org/drawingml/2006/main">
            <a:r>
              <a:t>FY2026Q3 / capacity to FY2030</a:t>
            </a:r>
          </a:p>
          <a:p xmlns:a="http://schemas.openxmlformats.org/drawingml/2006/main">
            <a:r>
              <a:t>https://assets.siemens-energy.com/dam/3e846440-66dd-4a56-be75-b49d004e6741/2026-08-05_Q3_Analyst_presentation-pdf_Original%20file.pdf</a:t>
            </a:r>
          </a:p>
          <a:p xmlns:a="http://schemas.openxmlformats.org/drawingml/2006/main">
            <a:r>
              <a:t>局限：扩产为公司计划；图表数值需要保留机组大小和单位，不能将台数与GW混用。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P06 | 2025 Capital Market Day — Gas Services | 2025-11-20</a:t>
            </a:r>
          </a:p>
          <a:p xmlns:a="http://schemas.openxmlformats.org/drawingml/2006/main">
            <a:r>
              <a:t>FY2024-2030</a:t>
            </a:r>
          </a:p>
          <a:p xmlns:a="http://schemas.openxmlformats.org/drawingml/2006/main">
            <a:r>
              <a:t>https://assets.siemens-energy.com/dam/5fc093ca-4fd8-482c-8390-b39b004f66f3/251120_CMD-2025_Gas_Services_FINAL-pdf_Original%20file.pdf</a:t>
            </a:r>
          </a:p>
          <a:p xmlns:a="http://schemas.openxmlformats.org/drawingml/2006/main">
            <a:r>
              <a:t>局限：2025年预测，扩产进度以2026年P05更新；GW口径包含联合循环蒸汽轮机容量。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P07 | 2025 Capital Market Day — Grid Technologies | 2025-11-20</a:t>
            </a:r>
          </a:p>
          <a:p xmlns:a="http://schemas.openxmlformats.org/drawingml/2006/main">
            <a:r>
              <a:t>FY2023-2030</a:t>
            </a:r>
          </a:p>
          <a:p xmlns:a="http://schemas.openxmlformats.org/drawingml/2006/main">
            <a:r>
              <a:t>https://assets.siemens-energy.com/dam/d8d5d849-a7a9-4b19-a969-b39b004f6c26/251120_CMD-2025_Grid_Technologies_FINAL-pdf_Original%20file.pdf</a:t>
            </a:r>
          </a:p>
          <a:p xmlns:a="http://schemas.openxmlformats.org/drawingml/2006/main">
            <a:r>
              <a:t>局限：市场缺口图由公司内部估计，不能当独立行业统计；投资包含变压器、开关设备及地产。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SEMI12 | Q3 FY2026 Financial Results and Dividend | 2026-09-02</a:t>
            </a:r>
          </a:p>
          <a:p xmlns:a="http://schemas.openxmlformats.org/drawingml/2006/main">
            <a:r>
              <a:t>Financial statements and CEO quote</a:t>
            </a:r>
          </a:p>
          <a:p xmlns:a="http://schemas.openxmlformats.org/drawingml/2006/main">
            <a:r>
              <a:t>https://www.prnewswire.com/news-releases/broadcom-inc-announces-third-quarter-fiscal-year-2026-financial-results-and-quarterly-dividend-302868129.html</a:t>
            </a:r>
          </a:p>
          <a:p xmlns:a="http://schemas.openxmlformats.org/drawingml/2006/main">
            <a:r>
              <a:t>局限：半导体与软件利润混合；非GAAP剔除SBC，Q3SBC为2.019bnUSD；净债35.444bnUSD。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P10 | Q2 2026 earnings release — SEC Exhibit 99.1 | 2026-07-29</a:t>
            </a:r>
          </a:p>
          <a:p xmlns:a="http://schemas.openxmlformats.org/drawingml/2006/main">
            <a:r>
              <a:t>2026Q2 / FY2026 guidance</a:t>
            </a:r>
          </a:p>
          <a:p xmlns:a="http://schemas.openxmlformats.org/drawingml/2006/main">
            <a:r>
              <a:t>https://www.sec.gov/Archives/edgar/data/1674101/000162828026050323/q22026exhibit991vrt07292026.htm</a:t>
            </a:r>
          </a:p>
          <a:p xmlns:a="http://schemas.openxmlformats.org/drawingml/2006/main">
            <a:r>
              <a:t>局限：液冷收入/利润未独立披露；不得将整体增长和利润率全部归因液冷。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P11 | Q2 2026 Form 10-Q | 2026-07-29</a:t>
            </a:r>
          </a:p>
          <a:p xmlns:a="http://schemas.openxmlformats.org/drawingml/2006/main">
            <a:r>
              <a:t>2026Q2 / H1 ended 2026-06-30</a:t>
            </a:r>
          </a:p>
          <a:p xmlns:a="http://schemas.openxmlformats.org/drawingml/2006/main">
            <a:r>
              <a:t>https://www.sec.gov/Archives/edgar/data/1674101/000162828026050609/vrt-20260630.htm</a:t>
            </a:r>
          </a:p>
          <a:p xmlns:a="http://schemas.openxmlformats.org/drawingml/2006/main">
            <a:r>
              <a:t>局限：存在营运资本及预收收入现金流贡献；6月底净现金并非研究日并购完成后的现金状况。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P12 | Utility Innovation Holdings acquisition — Form 8-K | 2026-09-02</a:t>
            </a:r>
          </a:p>
          <a:p xmlns:a="http://schemas.openxmlformats.org/drawingml/2006/main">
            <a:r>
              <a:t>Agreement dated 2026-09-01; expected close Q4 2026</a:t>
            </a:r>
          </a:p>
          <a:p xmlns:a="http://schemas.openxmlformats.org/drawingml/2006/main">
            <a:r>
              <a:t>https://www.sec.gov/Archives/edgar/data/1674101/000119312526379306/d472406d8k.htm</a:t>
            </a:r>
          </a:p>
          <a:p xmlns:a="http://schemas.openxmlformats.org/drawingml/2006/main">
            <a:r>
              <a:t>局限：尚未交割；最高earnout取决于EBITDA目标，不能全部视为已付，也不能全忽略。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P08 | Q2 2026 earnings release — SEC Exhibit 99 | 2026-07-31</a:t>
            </a:r>
          </a:p>
          <a:p xmlns:a="http://schemas.openxmlformats.org/drawingml/2006/main">
            <a:r>
              <a:t>2026Q2 / FY2026 guidance</a:t>
            </a:r>
          </a:p>
          <a:p xmlns:a="http://schemas.openxmlformats.org/drawingml/2006/main">
            <a:r>
              <a:t>https://www.sec.gov/Archives/edgar/data/1551182/000155118226000027/etn06302026exhibit99.htm</a:t>
            </a:r>
          </a:p>
          <a:p xmlns:a="http://schemas.openxmlformats.org/drawingml/2006/main">
            <a:r>
              <a:t>局限：headline增长包含并购；滚动12个月订单增速不是当季订单同比；调整EPS有大额摊销/交易费用剔除。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P09 | Q2 2026 Form 10-Q | 2026-07-31</a:t>
            </a:r>
          </a:p>
          <a:p xmlns:a="http://schemas.openxmlformats.org/drawingml/2006/main">
            <a:r>
              <a:t>2026Q2 / H1 ended 2026-06-30</a:t>
            </a:r>
          </a:p>
          <a:p xmlns:a="http://schemas.openxmlformats.org/drawingml/2006/main">
            <a:r>
              <a:t>https://www.sec.gov/Archives/edgar/data/1551182/000155118226000030/etn-20260630.htm</a:t>
            </a:r>
          </a:p>
          <a:p xmlns:a="http://schemas.openxmlformats.org/drawingml/2006/main">
            <a:r>
              <a:t>局限：积压定义为客户明确承诺订单，但公司没有将数据中心/AI积压独立量化。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SEMI04 | FY2026Q2 Earnings Release | 2026-07-29</a:t>
            </a:r>
          </a:p>
          <a:p xmlns:a="http://schemas.openxmlformats.org/drawingml/2006/main">
            <a:r>
              <a:t>Main press release</a:t>
            </a:r>
          </a:p>
          <a:p xmlns:a="http://schemas.openxmlformats.org/drawingml/2006/main">
            <a:r>
              <a:t>https://news.skhynix.com/en/q2-2026-business-results/</a:t>
            </a:r>
          </a:p>
          <a:p xmlns:a="http://schemas.openxmlformats.org/drawingml/2006/main">
            <a:r>
              <a:t>局限：公司声称技术领先，未提供独立验证份额或HBM单独毛利，不能沿用旧HBM市占率。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SEMI05 | FY2026Q2 Earnings Presentation | 2026-07-29</a:t>
            </a:r>
          </a:p>
          <a:p xmlns:a="http://schemas.openxmlformats.org/drawingml/2006/main">
            <a:r>
              <a:t>pp6,12,14,15</a:t>
            </a:r>
          </a:p>
          <a:p xmlns:a="http://schemas.openxmlformats.org/drawingml/2006/main">
            <a:r>
              <a:t>https://mis-prod-koce-homepage-cdn-01-blob-ep.azureedge.net/web/attach/13571040283022005.pdf</a:t>
            </a:r>
          </a:p>
          <a:p xmlns:a="http://schemas.openxmlformats.org/drawingml/2006/main">
            <a:r>
              <a:t>局限：数字四舍五入；p14 Q1 EPS21522与同表Q1净利40346bn/股数712m不一致，Q1EPS排除；新闻PDF声明尚未完成审阅。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SEMI06 | Share buyback and retirement | 2026-08-19</a:t>
            </a:r>
          </a:p>
          <a:p xmlns:a="http://schemas.openxmlformats.org/drawingml/2006/main">
            <a:r>
              <a:t>Board resolution announcement</a:t>
            </a:r>
          </a:p>
          <a:p xmlns:a="http://schemas.openxmlformats.org/drawingml/2006/main">
            <a:r>
              <a:t>https://news.skhynix.com/en/share-buyback-and-retirement/</a:t>
            </a:r>
          </a:p>
          <a:p xmlns:a="http://schemas.openxmlformats.org/drawingml/2006/main">
            <a:r>
              <a:t>局限：截至9月5日尚未完成全部回购；不等于已注销；公司认为低估是观点，非独立估值。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SEMI07 | Indiana HBM facility groundbreaking | 2026-08-28</a:t>
            </a:r>
          </a:p>
          <a:p xmlns:a="http://schemas.openxmlformats.org/drawingml/2006/main">
            <a:r>
              <a:t>Investment schedule</a:t>
            </a:r>
          </a:p>
          <a:p xmlns:a="http://schemas.openxmlformats.org/drawingml/2006/main">
            <a:r>
              <a:t>https://news.skhynix.com/en/groundbreaking-ceremony-in-indiana/</a:t>
            </a:r>
          </a:p>
          <a:p xmlns:a="http://schemas.openxmlformats.org/drawingml/2006/main">
            <a:r>
              <a:t>局限：韩国M15X/龙仁及其他公司扩产仍会在窗口内新增供给；美国项目只是局部。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SEMI11 | Second Quarter 2026 Results | 2026-07-30</a:t>
            </a:r>
          </a:p>
          <a:p xmlns:a="http://schemas.openxmlformats.org/drawingml/2006/main">
            <a:r>
              <a:t>DS division and outlook</a:t>
            </a:r>
          </a:p>
          <a:p xmlns:a="http://schemas.openxmlformats.org/drawingml/2006/main">
            <a:r>
              <a:t>https://news.samsung.com/global/samsung-electronics-announces-second-quarter-2026-results</a:t>
            </a:r>
          </a:p>
          <a:p xmlns:a="http://schemas.openxmlformats.org/drawingml/2006/main">
            <a:r>
              <a:t>局限：公司自称技术领先；未提供HBM单独毛利或份额；DS包括其他业务。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SEMI01 | Q3 FY2026 Prepared Remarks | 2026-06-24</a:t>
            </a:r>
          </a:p>
          <a:p xmlns:a="http://schemas.openxmlformats.org/drawingml/2006/main">
            <a:r>
              <a:t>pp1–3</a:t>
            </a:r>
          </a:p>
          <a:p xmlns:a="http://schemas.openxmlformats.org/drawingml/2006/main">
            <a:r>
              <a:t>https://s25.q4cdn.com/621799436/files/doc_financials/2026/q3/Q3-FY26-Prepared-Remarks.pdf</a:t>
            </a:r>
          </a:p>
          <a:p xmlns:a="http://schemas.openxmlformats.org/drawingml/2006/main">
            <a:r>
              <a:t>局限：最低合同额跨至 2030 年；22bn 含存款和相关承诺，预计现金存款约 18bn；可退款，收款时列融资现金流。地板价格未公开。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SEMI02 | Q3 FY2026 Prepared Remarks | 2026-06-24</a:t>
            </a:r>
          </a:p>
          <a:p xmlns:a="http://schemas.openxmlformats.org/drawingml/2006/main">
            <a:r>
              <a:t>pp2,4–6,10</a:t>
            </a:r>
          </a:p>
          <a:p xmlns:a="http://schemas.openxmlformats.org/drawingml/2006/main">
            <a:r>
              <a:t>https://s25.q4cdn.com/621799436/files/doc_financials/2026/q3/Q3-FY26-Prepared-Remarks.pdf</a:t>
            </a:r>
          </a:p>
          <a:p xmlns:a="http://schemas.openxmlformats.org/drawingml/2006/main">
            <a:r>
              <a:t>局限：2027紧张是供应商预测；对价格上限约束、成本上升和新增产能需做正常化估值。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SEMI03 | FY2026Q3 Release | 2026-06-24</a:t>
            </a:r>
          </a:p>
          <a:p xmlns:a="http://schemas.openxmlformats.org/drawingml/2006/main">
            <a:r>
              <a:t>财务报表与 FCF 对账</a:t>
            </a:r>
          </a:p>
          <a:p xmlns:a="http://schemas.openxmlformats.org/drawingml/2006/main">
            <a:r>
              <a:t>https://investors.micron.com/news/press-release/2026/Micron-Technology-Inc--Reports-Record-Results-for-the-Third-Quarter-of-Fiscal-2026/default.aspx</a:t>
            </a:r>
          </a:p>
          <a:p xmlns:a="http://schemas.openxmlformats.org/drawingml/2006/main">
            <a:r>
              <a:t>局限：季度毛利84.6%异常高，不作为永续正常率；披露FCF包含补助净额，与普通FCF不同。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 | Micron SEC companyfacts | 2026-06-25</a:t>
            </a:r>
          </a:p>
          <a:p xmlns:a="http://schemas.openxmlformats.org/drawingml/2006/main">
            <a:r>
              <a:t>accn 0000723125-26-000015；YTD 2025-08-29 至 2026-05-28</a:t>
            </a:r>
          </a:p>
          <a:p xmlns:a="http://schemas.openxmlformats.org/drawingml/2006/main">
            <a:r>
              <a:t>https://data.sec.gov/api/xbrl/companyfacts/CIK0000723125.json</a:t>
            </a:r>
          </a:p>
          <a:p xmlns:a="http://schemas.openxmlformats.org/drawingml/2006/main">
            <a:r>
              <a:t>局限：YTD 不是单季；公司 FCF 与标准 CFO－PP&amp;E 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P01 | Q2 2026 earnings release | 2026-07-22</a:t>
            </a:r>
          </a:p>
          <a:p xmlns:a="http://schemas.openxmlformats.org/drawingml/2006/main">
            <a:r>
              <a:t>2026Q2 / H1 / FY2026 guidance</a:t>
            </a:r>
          </a:p>
          <a:p xmlns:a="http://schemas.openxmlformats.org/drawingml/2006/main">
            <a:r>
              <a:t>https://www.gevernova.com/sites/default/files/gev_webcast_pressrelease_07222026.pdf</a:t>
            </a:r>
          </a:p>
          <a:p xmlns:a="http://schemas.openxmlformats.org/drawingml/2006/main">
            <a:r>
              <a:t>局限：公司披露；含非GAAP指标、Prolec并表及长周期业务；全公司积压不等于AI订单。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P02 | Q2 2026 management transcript | 2026-07-22</a:t>
            </a:r>
          </a:p>
          <a:p xmlns:a="http://schemas.openxmlformats.org/drawingml/2006/main">
            <a:r>
              <a:t>2026Q2；2028/2030 capacity plans</a:t>
            </a:r>
          </a:p>
          <a:p xmlns:a="http://schemas.openxmlformats.org/drawingml/2006/main">
            <a:r>
              <a:t>https://www.gevernova.com/sites/default/files/gev_webcast_transcript_07222026.pdf</a:t>
            </a:r>
          </a:p>
          <a:p xmlns:a="http://schemas.openxmlformats.org/drawingml/2006/main">
            <a:r>
              <a:t>局限：公司管理层判断和扩产计划；SRA仅为产能预订，不等同正式设备积压。与P01属于同次业绩披露。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P03 | Q2 2026 investor presentation | 2026-07-22</a:t>
            </a:r>
          </a:p>
          <a:p xmlns:a="http://schemas.openxmlformats.org/drawingml/2006/main">
            <a:r>
              <a:t>2026Q2</a:t>
            </a:r>
          </a:p>
          <a:p xmlns:a="http://schemas.openxmlformats.org/drawingml/2006/main">
            <a:r>
              <a:t>https://www.gevernova.com/sites/default/files/gev_webcast_presentation_07222026.pdf</a:t>
            </a:r>
          </a:p>
          <a:p xmlns:a="http://schemas.openxmlformats.org/drawingml/2006/main">
            <a:r>
              <a:t>局限：与P01/P02为同次披露，不能视作独立第三方交叉验证。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P14 | Q2 2026 Form 10-Q | 2026-07-22</a:t>
            </a:r>
          </a:p>
          <a:p xmlns:a="http://schemas.openxmlformats.org/drawingml/2006/main">
            <a:r>
              <a:t>H1/Q2 ended 2026-06-30</a:t>
            </a:r>
          </a:p>
          <a:p xmlns:a="http://schemas.openxmlformats.org/drawingml/2006/main">
            <a:r>
              <a:t>https://www.gevernova.com/sites/default/files/gev_webcast_10q_07222026.pdf</a:t>
            </a:r>
          </a:p>
          <a:p xmlns:a="http://schemas.openxmlformats.org/drawingml/2006/main">
            <a:r>
              <a:t>局限：净利润含Prolec重新估值收益3992m；现金表头含restricted cash。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SEMI08 | Q2 2026 earnings call, management quotations hosted by Yahoo/Quartr | 2026-07-16</a:t>
            </a:r>
          </a:p>
          <a:p xmlns:a="http://schemas.openxmlformats.org/drawingml/2006/main">
            <a:r>
              <a:t>timestamps00:07:55,00:33:54,00:43:29,00:57:17</a:t>
            </a:r>
          </a:p>
          <a:p xmlns:a="http://schemas.openxmlformats.org/drawingml/2006/main">
            <a:r>
              <a:t>https://finance.yahoo.com/quote/TSM/earnings/TSM-Q2-2026-earnings_call-649922.html</a:t>
            </a:r>
          </a:p>
          <a:p xmlns:a="http://schemas.openxmlformats.org/drawingml/2006/main">
            <a:r>
              <a:t>局限：管理层原话二级转载，官方逐字稿链接已验证但无法保存正文；未采用外部未核实月产能数字。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SEMI09 | Q2 2026 Consolidated Financial Report | 2026-08-14</a:t>
            </a:r>
          </a:p>
          <a:p xmlns:a="http://schemas.openxmlformats.org/drawingml/2006/main">
            <a:r>
              <a:t>合并损益表、现金流量表；Note13；Note25</a:t>
            </a:r>
          </a:p>
          <a:p xmlns:a="http://schemas.openxmlformats.org/drawingml/2006/main">
            <a:r>
              <a:t>https://www.sec.gov/Archives/edgar/data/1046179/000104617926000541/a2026q2consolidatedreport-.htm</a:t>
            </a:r>
          </a:p>
          <a:p xmlns:a="http://schemas.openxmlformats.org/drawingml/2006/main">
            <a:r>
              <a:t>局限：原披露单位为千新台币；底稿换算为百万新台币。ADS＝5 普通股；Q2 的 VIS 处置及重估收益在估值中剔除。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F01 | TSMC 2025 Form 20-F | 2026-04-16</a:t>
            </a:r>
          </a:p>
          <a:p xmlns:a="http://schemas.openxmlformats.org/drawingml/2006/main">
            <a:r>
              <a:t>F-8、F-11、Note32；ADS beneficial ownership note (2)</a:t>
            </a:r>
          </a:p>
          <a:p xmlns:a="http://schemas.openxmlformats.org/drawingml/2006/main">
            <a:r>
              <a:t>https://www.sec.gov/Archives/edgar/data/1046179/000162828026025362/tsm-20251231.htm</a:t>
            </a:r>
          </a:p>
          <a:p xmlns:a="http://schemas.openxmlformats.org/drawingml/2006/main">
            <a:r>
              <a:t>局限：每 ADS 为 5 普通股；历史 EPS 含非经常损益。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MP04 | Talen Energy Reports Second Quarter 2026 Results, Raises 2026 Guidance | 2026-08-05</a:t>
            </a:r>
          </a:p>
          <a:p xmlns:a="http://schemas.openxmlformats.org/drawingml/2006/main">
            <a:r>
              <a:t>财务表、2026指引、调整FCF定义及对账</a:t>
            </a:r>
          </a:p>
          <a:p xmlns:a="http://schemas.openxmlformats.org/drawingml/2006/main">
            <a:r>
              <a:t>https://ir.talenenergy.com/news-releases/news-release-details/talen-energy-reports-second-quarter-2026-results-raises-2026/</a:t>
            </a:r>
          </a:p>
          <a:p xmlns:a="http://schemas.openxmlformats.org/drawingml/2006/main">
            <a:r>
              <a:t>局限：调整FCF已扣维护资本开支、核燃料、利息、现金税和养老金；排除开发/增长/转换资本开支及股权激励等。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MP05 | Talen Q2 2026 Results Presentation | 2026-08-05</a:t>
            </a:r>
          </a:p>
          <a:p xmlns:a="http://schemas.openxmlformats.org/drawingml/2006/main">
            <a:r>
              <a:t>PDF第10/12/16–18/20–22页；印刷页码9/11/15–17/19–21</a:t>
            </a:r>
          </a:p>
          <a:p xmlns:a="http://schemas.openxmlformats.org/drawingml/2006/main">
            <a:r>
              <a:t>https://ir.talenenergy.com/static-files/bf510e55-32b6-4dc4-b863-5b59c086ba60</a:t>
            </a:r>
          </a:p>
          <a:p xmlns:a="http://schemas.openxmlformats.org/drawingml/2006/main">
            <a:r>
              <a:t>局限：2027/2028每股调整FCF为公司展望；基础固定47.9百万股；回购影响单列。2028仅30%发电量套保，仍有较高电价风险。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MP06 | Talen Energy Expands Nuclear Energy Relationship with Amazon | 2025-06-11</a:t>
            </a:r>
          </a:p>
          <a:p xmlns:a="http://schemas.openxmlformats.org/drawingml/2006/main">
            <a:r>
              <a:t>开头：1920MW、2042年到期、最晚2032年全量供电</a:t>
            </a:r>
          </a:p>
          <a:p xmlns:a="http://schemas.openxmlformats.org/drawingml/2006/main">
            <a:r>
              <a:t>https://ir.talenenergy.com/news-releases/news-release-details/talen-energy-expands-nuclear-energy-relationship-amazon/</a:t>
            </a:r>
          </a:p>
          <a:p xmlns:a="http://schemas.openxmlformats.org/drawingml/2006/main">
            <a:r>
              <a:t>局限：全量1920MW分期爬坡；2026已完成供电模式转换不代表合同容量已全部兑现。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MP07 | Talen Q2 2026 Form 10-Q | 2026-08-05</a:t>
            </a:r>
          </a:p>
          <a:p xmlns:a="http://schemas.openxmlformats.org/drawingml/2006/main">
            <a:r>
              <a:t>印刷第5页现金流；第14页注8；第25–27页注13；第34/39页；第44页AWS词汇定义</a:t>
            </a:r>
          </a:p>
          <a:p xmlns:a="http://schemas.openxmlformats.org/drawingml/2006/main">
            <a:r>
              <a:t>https://www.sec.gov/Archives/edgar/data/1622536/000162253626000066/tln-20260630.htm</a:t>
            </a:r>
          </a:p>
          <a:p xmlns:a="http://schemas.openxmlformats.org/drawingml/2006/main">
            <a:r>
              <a:t>局限：股权奖励经济成本与未来增长投入仍需研究假设；495百万美元为集中到期奖励结算，不能年化。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MP09 | TLN Yahoo daily unadjusted close | 2026-09-04</a:t>
            </a:r>
          </a:p>
          <a:p xmlns:a="http://schemas.openxmlformats.org/drawingml/2006/main">
            <a:r>
              <a:t>2026-09-04日线；indicators.quote.close</a:t>
            </a:r>
          </a:p>
          <a:p xmlns:a="http://schemas.openxmlformats.org/drawingml/2006/main">
            <a:r>
              <a:t>https://query1.finance.yahoo.com/v8/finance/chart/TLN?interval=1d&amp;range=1mo</a:t>
            </a:r>
          </a:p>
          <a:p xmlns:a="http://schemas.openxmlformats.org/drawingml/2006/main">
            <a:r>
              <a:t>局限：价格为日线未调整收盘；时间戳为该日交易时段起点，不是收盘时刻。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SEMI10 | Q2 FY2027 Earnings Release | 2026-08-26</a:t>
            </a:r>
          </a:p>
          <a:p xmlns:a="http://schemas.openxmlformats.org/drawingml/2006/main">
            <a:r>
              <a:t>Income statement/cash flow statement</a:t>
            </a:r>
          </a:p>
          <a:p xmlns:a="http://schemas.openxmlformats.org/drawingml/2006/main">
            <a:r>
              <a:t>https://nvidianews.nvidia.com/news/nvidia-announces-financial-results-for-second-quarter-fiscal-2027</a:t>
            </a:r>
          </a:p>
          <a:p xmlns:a="http://schemas.openxmlformats.org/drawingml/2006/main">
            <a:r>
              <a:t>局限：Q3为指引；中国出口限制及ASIC竞争风险；证券收益与供应融资需单列，不能直接以净利年化。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P13 | Half Year 2026 Results | 2026-07-30</a:t>
            </a:r>
          </a:p>
          <a:p xmlns:a="http://schemas.openxmlformats.org/drawingml/2006/main">
            <a:r>
              <a:t>2026H1 / Q2 / FY2026 targets</a:t>
            </a:r>
          </a:p>
          <a:p xmlns:a="http://schemas.openxmlformats.org/drawingml/2006/main">
            <a:r>
              <a:t>https://www.se.com/ww/en/assets/pdf/release-hy-results-2026</a:t>
            </a:r>
          </a:p>
          <a:p xmlns:a="http://schemas.openxmlformats.org/drawingml/2006/main">
            <a:r>
              <a:t>局限：运营现金流在公司该表中为营运资本变动前口径；FCF同比含去年罚款基数；无液冷独立收入/利润。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P04 | Q3 FY2026 earnings release and financial results | 2026-08-05</a:t>
            </a:r>
          </a:p>
          <a:p xmlns:a="http://schemas.openxmlformats.org/drawingml/2006/main">
            <a:r>
              <a:t>FY2026Q3 ended 2026-06-30 / FY2026 guidance</a:t>
            </a:r>
          </a:p>
          <a:p xmlns:a="http://schemas.openxmlformats.org/drawingml/2006/main">
            <a:r>
              <a:t>https://assets.siemens-energy.com/dam/30018eed-275d-4e73-811e-b49d004cdc3d/2026-08-05-Earnings_Release_Q3_FY26_EN-pdf_Original%20file.pdf</a:t>
            </a:r>
          </a:p>
          <a:p xmlns:a="http://schemas.openxmlformats.org/drawingml/2006/main">
            <a:r>
              <a:t>局限：财政年度截至9月；税前FCF指引不能和美国公司税后FCF直接比较。GS/GT积压包含大量非AI客户。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P05 | Q3 FY2026 analyst presentation | 2026-08-05</a:t>
            </a:r>
          </a:p>
          <a:p xmlns:a="http://schemas.openxmlformats.org/drawingml/2006/main">
            <a:r>
              <a:t>FY2026Q3 / capacity to FY2030</a:t>
            </a:r>
          </a:p>
          <a:p xmlns:a="http://schemas.openxmlformats.org/drawingml/2006/main">
            <a:r>
              <a:t>https://assets.siemens-energy.com/dam/3e846440-66dd-4a56-be75-b49d004e6741/2026-08-05_Q3_Analyst_presentation-pdf_Original%20file.pdf</a:t>
            </a:r>
          </a:p>
          <a:p xmlns:a="http://schemas.openxmlformats.org/drawingml/2006/main">
            <a:r>
              <a:t>局限：扩产为公司计划；图表数值需要保留机组大小和单位，不能将台数与GW混用。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P06 | 2025 Capital Market Day — Gas Services | 2025-11-20</a:t>
            </a:r>
          </a:p>
          <a:p xmlns:a="http://schemas.openxmlformats.org/drawingml/2006/main">
            <a:r>
              <a:t>FY2024-2030</a:t>
            </a:r>
          </a:p>
          <a:p xmlns:a="http://schemas.openxmlformats.org/drawingml/2006/main">
            <a:r>
              <a:t>https://assets.siemens-energy.com/dam/5fc093ca-4fd8-482c-8390-b39b004f66f3/251120_CMD-2025_Gas_Services_FINAL-pdf_Original%20file.pdf</a:t>
            </a:r>
          </a:p>
          <a:p xmlns:a="http://schemas.openxmlformats.org/drawingml/2006/main">
            <a:r>
              <a:t>局限：2025年预测，扩产进度以2026年P05更新；GW口径包含联合循环蒸汽轮机容量。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P07 | 2025 Capital Market Day — Grid Technologies | 2025-11-20</a:t>
            </a:r>
          </a:p>
          <a:p xmlns:a="http://schemas.openxmlformats.org/drawingml/2006/main">
            <a:r>
              <a:t>FY2023-2030</a:t>
            </a:r>
          </a:p>
          <a:p xmlns:a="http://schemas.openxmlformats.org/drawingml/2006/main">
            <a:r>
              <a:t>https://assets.siemens-energy.com/dam/d8d5d849-a7a9-4b19-a969-b39b004f6c26/251120_CMD-2025_Grid_Technologies_FINAL-pdf_Original%20file.pdf</a:t>
            </a:r>
          </a:p>
          <a:p xmlns:a="http://schemas.openxmlformats.org/drawingml/2006/main">
            <a:r>
              <a:t>局限：市场缺口图由公司内部估计，不能当独立行业统计；投资包含变压器、开关设备及地产。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SEMI12 | Q3 FY2026 Financial Results and Dividend | 2026-09-02</a:t>
            </a:r>
          </a:p>
          <a:p xmlns:a="http://schemas.openxmlformats.org/drawingml/2006/main">
            <a:r>
              <a:t>Financial statements and CEO quote</a:t>
            </a:r>
          </a:p>
          <a:p xmlns:a="http://schemas.openxmlformats.org/drawingml/2006/main">
            <a:r>
              <a:t>https://www.prnewswire.com/news-releases/broadcom-inc-announces-third-quarter-fiscal-year-2026-financial-results-and-quarterly-dividend-302868129.html</a:t>
            </a:r>
          </a:p>
          <a:p xmlns:a="http://schemas.openxmlformats.org/drawingml/2006/main">
            <a:r>
              <a:t>局限：半导体与软件利润混合；非GAAP剔除SBC，Q3SBC为2.019bnUSD；净债35.444bnUSD。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P10 | Q2 2026 earnings release — SEC Exhibit 99.1 | 2026-07-29</a:t>
            </a:r>
          </a:p>
          <a:p xmlns:a="http://schemas.openxmlformats.org/drawingml/2006/main">
            <a:r>
              <a:t>2026Q2 / FY2026 guidance</a:t>
            </a:r>
          </a:p>
          <a:p xmlns:a="http://schemas.openxmlformats.org/drawingml/2006/main">
            <a:r>
              <a:t>https://www.sec.gov/Archives/edgar/data/1674101/000162828026050323/q22026exhibit991vrt07292026.htm</a:t>
            </a:r>
          </a:p>
          <a:p xmlns:a="http://schemas.openxmlformats.org/drawingml/2006/main">
            <a:r>
              <a:t>局限：液冷收入/利润未独立披露；不得将整体增长和利润率全部归因液冷。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P11 | Q2 2026 Form 10-Q | 2026-07-29</a:t>
            </a:r>
          </a:p>
          <a:p xmlns:a="http://schemas.openxmlformats.org/drawingml/2006/main">
            <a:r>
              <a:t>2026Q2 / H1 ended 2026-06-30</a:t>
            </a:r>
          </a:p>
          <a:p xmlns:a="http://schemas.openxmlformats.org/drawingml/2006/main">
            <a:r>
              <a:t>https://www.sec.gov/Archives/edgar/data/1674101/000162828026050609/vrt-20260630.htm</a:t>
            </a:r>
          </a:p>
          <a:p xmlns:a="http://schemas.openxmlformats.org/drawingml/2006/main">
            <a:r>
              <a:t>局限：存在营运资本及预收收入现金流贡献；6月底净现金并非研究日并购完成后的现金状况。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P12 | Utility Innovation Holdings acquisition — Form 8-K | 2026-09-02</a:t>
            </a:r>
          </a:p>
          <a:p xmlns:a="http://schemas.openxmlformats.org/drawingml/2006/main">
            <a:r>
              <a:t>Agreement dated 2026-09-01; expected close Q4 2026</a:t>
            </a:r>
          </a:p>
          <a:p xmlns:a="http://schemas.openxmlformats.org/drawingml/2006/main">
            <a:r>
              <a:t>https://www.sec.gov/Archives/edgar/data/1674101/000119312526379306/d472406d8k.htm</a:t>
            </a:r>
          </a:p>
          <a:p xmlns:a="http://schemas.openxmlformats.org/drawingml/2006/main">
            <a:r>
              <a:t>局限：尚未交割；最高earnout取决于EBITDA目标，不能全部视为已付，也不能全忽略。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P08 | Q2 2026 earnings release — SEC Exhibit 99 | 2026-07-31</a:t>
            </a:r>
          </a:p>
          <a:p xmlns:a="http://schemas.openxmlformats.org/drawingml/2006/main">
            <a:r>
              <a:t>2026Q2 / FY2026 guidance</a:t>
            </a:r>
          </a:p>
          <a:p xmlns:a="http://schemas.openxmlformats.org/drawingml/2006/main">
            <a:r>
              <a:t>https://www.sec.gov/Archives/edgar/data/1551182/000155118226000027/etn06302026exhibit99.htm</a:t>
            </a:r>
          </a:p>
          <a:p xmlns:a="http://schemas.openxmlformats.org/drawingml/2006/main">
            <a:r>
              <a:t>局限：headline增长包含并购；滚动12个月订单增速不是当季订单同比；调整EPS有大额摊销/交易费用剔除。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P09 | Q2 2026 Form 10-Q | 2026-07-31</a:t>
            </a:r>
          </a:p>
          <a:p xmlns:a="http://schemas.openxmlformats.org/drawingml/2006/main">
            <a:r>
              <a:t>2026Q2 / H1 ended 2026-06-30</a:t>
            </a:r>
          </a:p>
          <a:p xmlns:a="http://schemas.openxmlformats.org/drawingml/2006/main">
            <a:r>
              <a:t>https://www.sec.gov/Archives/edgar/data/1551182/000155118226000030/etn-20260630.htm</a:t>
            </a:r>
          </a:p>
          <a:p xmlns:a="http://schemas.openxmlformats.org/drawingml/2006/main">
            <a:r>
              <a:t>局限：积压定义为客户明确承诺订单，但公司没有将数据中心/AI积压独立量化。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SEMI04 | FY2026Q2 Earnings Release | 2026-07-29</a:t>
            </a:r>
          </a:p>
          <a:p xmlns:a="http://schemas.openxmlformats.org/drawingml/2006/main">
            <a:r>
              <a:t>Main press release</a:t>
            </a:r>
          </a:p>
          <a:p xmlns:a="http://schemas.openxmlformats.org/drawingml/2006/main">
            <a:r>
              <a:t>https://news.skhynix.com/en/q2-2026-business-results/</a:t>
            </a:r>
          </a:p>
          <a:p xmlns:a="http://schemas.openxmlformats.org/drawingml/2006/main">
            <a:r>
              <a:t>局限：公司声称技术领先，未提供独立验证份额或HBM单独毛利，不能沿用旧HBM市占率。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SEMI05 | FY2026Q2 Earnings Presentation | 2026-07-29</a:t>
            </a:r>
          </a:p>
          <a:p xmlns:a="http://schemas.openxmlformats.org/drawingml/2006/main">
            <a:r>
              <a:t>pp6,12,14,15</a:t>
            </a:r>
          </a:p>
          <a:p xmlns:a="http://schemas.openxmlformats.org/drawingml/2006/main">
            <a:r>
              <a:t>https://mis-prod-koce-homepage-cdn-01-blob-ep.azureedge.net/web/attach/13571040283022005.pdf</a:t>
            </a:r>
          </a:p>
          <a:p xmlns:a="http://schemas.openxmlformats.org/drawingml/2006/main">
            <a:r>
              <a:t>局限：数字四舍五入；p14 Q1 EPS21522与同表Q1净利40346bn/股数712m不一致，Q1EPS排除；新闻PDF声明尚未完成审阅。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SEMI06 | Share buyback and retirement | 2026-08-19</a:t>
            </a:r>
          </a:p>
          <a:p xmlns:a="http://schemas.openxmlformats.org/drawingml/2006/main">
            <a:r>
              <a:t>Board resolution announcement</a:t>
            </a:r>
          </a:p>
          <a:p xmlns:a="http://schemas.openxmlformats.org/drawingml/2006/main">
            <a:r>
              <a:t>https://news.skhynix.com/en/share-buyback-and-retirement/</a:t>
            </a:r>
          </a:p>
          <a:p xmlns:a="http://schemas.openxmlformats.org/drawingml/2006/main">
            <a:r>
              <a:t>局限：截至9月5日尚未完成全部回购；不等于已注销；公司认为低估是观点，非独立估值。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SEMI07 | Indiana HBM facility groundbreaking | 2026-08-28</a:t>
            </a:r>
          </a:p>
          <a:p xmlns:a="http://schemas.openxmlformats.org/drawingml/2006/main">
            <a:r>
              <a:t>Investment schedule</a:t>
            </a:r>
          </a:p>
          <a:p xmlns:a="http://schemas.openxmlformats.org/drawingml/2006/main">
            <a:r>
              <a:t>https://news.skhynix.com/en/groundbreaking-ceremony-in-indiana/</a:t>
            </a:r>
          </a:p>
          <a:p xmlns:a="http://schemas.openxmlformats.org/drawingml/2006/main">
            <a:r>
              <a:t>局限：韩国M15X/龙仁及其他公司扩产仍会在窗口内新增供给；美国项目只是局部。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SEMI11 | Second Quarter 2026 Results | 2026-07-30</a:t>
            </a:r>
          </a:p>
          <a:p xmlns:a="http://schemas.openxmlformats.org/drawingml/2006/main">
            <a:r>
              <a:t>DS division and outlook</a:t>
            </a:r>
          </a:p>
          <a:p xmlns:a="http://schemas.openxmlformats.org/drawingml/2006/main">
            <a:r>
              <a:t>https://news.samsung.com/global/samsung-electronics-announces-second-quarter-2026-results</a:t>
            </a:r>
          </a:p>
          <a:p xmlns:a="http://schemas.openxmlformats.org/drawingml/2006/main">
            <a:r>
              <a:t>局限：公司自称技术领先；未提供HBM单独毛利或份额；DS包括其他业务。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SEMI01 | Q3 FY2026 Prepared Remarks | 2026-06-24</a:t>
            </a:r>
          </a:p>
          <a:p xmlns:a="http://schemas.openxmlformats.org/drawingml/2006/main">
            <a:r>
              <a:t>pp1–3</a:t>
            </a:r>
          </a:p>
          <a:p xmlns:a="http://schemas.openxmlformats.org/drawingml/2006/main">
            <a:r>
              <a:t>https://s25.q4cdn.com/621799436/files/doc_financials/2026/q3/Q3-FY26-Prepared-Remarks.pdf</a:t>
            </a:r>
          </a:p>
          <a:p xmlns:a="http://schemas.openxmlformats.org/drawingml/2006/main">
            <a:r>
              <a:t>局限：最低合同额跨至 2030 年；22bn 含存款和相关承诺，预计现金存款约 18bn；可退款，收款时列融资现金流。地板价格未公开。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SEMI02 | Q3 FY2026 Prepared Remarks | 2026-06-24</a:t>
            </a:r>
          </a:p>
          <a:p xmlns:a="http://schemas.openxmlformats.org/drawingml/2006/main">
            <a:r>
              <a:t>pp2,4–6,10</a:t>
            </a:r>
          </a:p>
          <a:p xmlns:a="http://schemas.openxmlformats.org/drawingml/2006/main">
            <a:r>
              <a:t>https://s25.q4cdn.com/621799436/files/doc_financials/2026/q3/Q3-FY26-Prepared-Remarks.pdf</a:t>
            </a:r>
          </a:p>
          <a:p xmlns:a="http://schemas.openxmlformats.org/drawingml/2006/main">
            <a:r>
              <a:t>局限：2027紧张是供应商预测；对价格上限约束、成本上升和新增产能需做正常化估值。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SEMI03 | FY2026Q3 Release | 2026-06-24</a:t>
            </a:r>
          </a:p>
          <a:p xmlns:a="http://schemas.openxmlformats.org/drawingml/2006/main">
            <a:r>
              <a:t>财务报表与 FCF 对账</a:t>
            </a:r>
          </a:p>
          <a:p xmlns:a="http://schemas.openxmlformats.org/drawingml/2006/main">
            <a:r>
              <a:t>https://investors.micron.com/news/press-release/2026/Micron-Technology-Inc--Reports-Record-Results-for-the-Third-Quarter-of-Fiscal-2026/default.aspx</a:t>
            </a:r>
          </a:p>
          <a:p xmlns:a="http://schemas.openxmlformats.org/drawingml/2006/main">
            <a:r>
              <a:t>局限：季度毛利84.6%异常高，不作为永续正常率；披露FCF包含补助净额，与普通FCF不同。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 | Micron SEC companyfacts | 2026-06-25</a:t>
            </a:r>
          </a:p>
          <a:p xmlns:a="http://schemas.openxmlformats.org/drawingml/2006/main">
            <a:r>
              <a:t>accn 0000723125-26-000015；YTD 2025-08-29 至 2026-05-28</a:t>
            </a:r>
          </a:p>
          <a:p xmlns:a="http://schemas.openxmlformats.org/drawingml/2006/main">
            <a:r>
              <a:t>https://data.sec.gov/api/xbrl/companyfacts/CIK0000723125.json</a:t>
            </a:r>
          </a:p>
          <a:p xmlns:a="http://schemas.openxmlformats.org/drawingml/2006/main">
            <a:r>
              <a:t>局限：YTD 不是单季；公司 FCF 与标准 CFO－PP&amp;E 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P01 | Q2 2026 earnings release | 2026-07-22</a:t>
            </a:r>
          </a:p>
          <a:p xmlns:a="http://schemas.openxmlformats.org/drawingml/2006/main">
            <a:r>
              <a:t>2026Q2 / H1 / FY2026 guidance</a:t>
            </a:r>
          </a:p>
          <a:p xmlns:a="http://schemas.openxmlformats.org/drawingml/2006/main">
            <a:r>
              <a:t>https://www.gevernova.com/sites/default/files/gev_webcast_pressrelease_07222026.pdf</a:t>
            </a:r>
          </a:p>
          <a:p xmlns:a="http://schemas.openxmlformats.org/drawingml/2006/main">
            <a:r>
              <a:t>局限：公司披露；含非GAAP指标、Prolec并表及长周期业务；全公司积压不等于AI订单。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P02 | Q2 2026 management transcript | 2026-07-22</a:t>
            </a:r>
          </a:p>
          <a:p xmlns:a="http://schemas.openxmlformats.org/drawingml/2006/main">
            <a:r>
              <a:t>2026Q2；2028/2030 capacity plans</a:t>
            </a:r>
          </a:p>
          <a:p xmlns:a="http://schemas.openxmlformats.org/drawingml/2006/main">
            <a:r>
              <a:t>https://www.gevernova.com/sites/default/files/gev_webcast_transcript_07222026.pdf</a:t>
            </a:r>
          </a:p>
          <a:p xmlns:a="http://schemas.openxmlformats.org/drawingml/2006/main">
            <a:r>
              <a:t>局限：公司管理层判断和扩产计划；SRA仅为产能预订，不等同正式设备积压。与P01属于同次业绩披露。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P03 | Q2 2026 investor presentation | 2026-07-22</a:t>
            </a:r>
          </a:p>
          <a:p xmlns:a="http://schemas.openxmlformats.org/drawingml/2006/main">
            <a:r>
              <a:t>2026Q2</a:t>
            </a:r>
          </a:p>
          <a:p xmlns:a="http://schemas.openxmlformats.org/drawingml/2006/main">
            <a:r>
              <a:t>https://www.gevernova.com/sites/default/files/gev_webcast_presentation_07222026.pdf</a:t>
            </a:r>
          </a:p>
          <a:p xmlns:a="http://schemas.openxmlformats.org/drawingml/2006/main">
            <a:r>
              <a:t>局限：与P01/P02为同次披露，不能视作独立第三方交叉验证。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P14 | Q2 2026 Form 10-Q | 2026-07-22</a:t>
            </a:r>
          </a:p>
          <a:p xmlns:a="http://schemas.openxmlformats.org/drawingml/2006/main">
            <a:r>
              <a:t>H1/Q2 ended 2026-06-30</a:t>
            </a:r>
          </a:p>
          <a:p xmlns:a="http://schemas.openxmlformats.org/drawingml/2006/main">
            <a:r>
              <a:t>https://www.gevernova.com/sites/default/files/gev_webcast_10q_07222026.pdf</a:t>
            </a:r>
          </a:p>
          <a:p xmlns:a="http://schemas.openxmlformats.org/drawingml/2006/main">
            <a:r>
              <a:t>局限：净利润含Prolec重新估值收益3992m；现金表头含restricted cash。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SEMI08 | Q2 2026 earnings call, management quotations hosted by Yahoo/Quartr | 2026-07-16</a:t>
            </a:r>
          </a:p>
          <a:p xmlns:a="http://schemas.openxmlformats.org/drawingml/2006/main">
            <a:r>
              <a:t>timestamps00:07:55,00:33:54,00:43:29,00:57:17</a:t>
            </a:r>
          </a:p>
          <a:p xmlns:a="http://schemas.openxmlformats.org/drawingml/2006/main">
            <a:r>
              <a:t>https://finance.yahoo.com/quote/TSM/earnings/TSM-Q2-2026-earnings_call-649922.html</a:t>
            </a:r>
          </a:p>
          <a:p xmlns:a="http://schemas.openxmlformats.org/drawingml/2006/main">
            <a:r>
              <a:t>局限：管理层原话二级转载，官方逐字稿链接已验证但无法保存正文；未采用外部未核实月产能数字。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SEMI09 | Q2 2026 Consolidated Financial Report | 2026-08-14</a:t>
            </a:r>
          </a:p>
          <a:p xmlns:a="http://schemas.openxmlformats.org/drawingml/2006/main">
            <a:r>
              <a:t>合并损益表、现金流量表；Note13；Note25</a:t>
            </a:r>
          </a:p>
          <a:p xmlns:a="http://schemas.openxmlformats.org/drawingml/2006/main">
            <a:r>
              <a:t>https://www.sec.gov/Archives/edgar/data/1046179/000104617926000541/a2026q2consolidatedreport-.htm</a:t>
            </a:r>
          </a:p>
          <a:p xmlns:a="http://schemas.openxmlformats.org/drawingml/2006/main">
            <a:r>
              <a:t>局限：原披露单位为千新台币；底稿换算为百万新台币。ADS＝5 普通股；Q2 的 VIS 处置及重估收益在估值中剔除。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F01 | TSMC 2025 Form 20-F | 2026-04-16</a:t>
            </a:r>
          </a:p>
          <a:p xmlns:a="http://schemas.openxmlformats.org/drawingml/2006/main">
            <a:r>
              <a:t>F-8、F-11、Note32；ADS beneficial ownership note (2)</a:t>
            </a:r>
          </a:p>
          <a:p xmlns:a="http://schemas.openxmlformats.org/drawingml/2006/main">
            <a:r>
              <a:t>https://www.sec.gov/Archives/edgar/data/1046179/000162828026025362/tsm-20251231.htm</a:t>
            </a:r>
          </a:p>
          <a:p xmlns:a="http://schemas.openxmlformats.org/drawingml/2006/main">
            <a:r>
              <a:t>局限：每 ADS 为 5 普通股；历史 EPS 含非经常损益。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MP04 | Talen Energy Reports Second Quarter 2026 Results, Raises 2026 Guidance | 2026-08-05</a:t>
            </a:r>
          </a:p>
          <a:p xmlns:a="http://schemas.openxmlformats.org/drawingml/2006/main">
            <a:r>
              <a:t>财务表、2026指引、调整FCF定义及对账</a:t>
            </a:r>
          </a:p>
          <a:p xmlns:a="http://schemas.openxmlformats.org/drawingml/2006/main">
            <a:r>
              <a:t>https://ir.talenenergy.com/news-releases/news-release-details/talen-energy-reports-second-quarter-2026-results-raises-2026/</a:t>
            </a:r>
          </a:p>
          <a:p xmlns:a="http://schemas.openxmlformats.org/drawingml/2006/main">
            <a:r>
              <a:t>局限：调整FCF已扣维护资本开支、核燃料、利息、现金税和养老金；排除开发/增长/转换资本开支及股权激励等。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MP05 | Talen Q2 2026 Results Presentation | 2026-08-05</a:t>
            </a:r>
          </a:p>
          <a:p xmlns:a="http://schemas.openxmlformats.org/drawingml/2006/main">
            <a:r>
              <a:t>PDF第10/12/16–18/20–22页；印刷页码9/11/15–17/19–21</a:t>
            </a:r>
          </a:p>
          <a:p xmlns:a="http://schemas.openxmlformats.org/drawingml/2006/main">
            <a:r>
              <a:t>https://ir.talenenergy.com/static-files/bf510e55-32b6-4dc4-b863-5b59c086ba60</a:t>
            </a:r>
          </a:p>
          <a:p xmlns:a="http://schemas.openxmlformats.org/drawingml/2006/main">
            <a:r>
              <a:t>局限：2027/2028每股调整FCF为公司展望；基础固定47.9百万股；回购影响单列。2028仅30%发电量套保，仍有较高电价风险。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MP06 | Talen Energy Expands Nuclear Energy Relationship with Amazon | 2025-06-11</a:t>
            </a:r>
          </a:p>
          <a:p xmlns:a="http://schemas.openxmlformats.org/drawingml/2006/main">
            <a:r>
              <a:t>开头：1920MW、2042年到期、最晚2032年全量供电</a:t>
            </a:r>
          </a:p>
          <a:p xmlns:a="http://schemas.openxmlformats.org/drawingml/2006/main">
            <a:r>
              <a:t>https://ir.talenenergy.com/news-releases/news-release-details/talen-energy-expands-nuclear-energy-relationship-amazon/</a:t>
            </a:r>
          </a:p>
          <a:p xmlns:a="http://schemas.openxmlformats.org/drawingml/2006/main">
            <a:r>
              <a:t>局限：全量1920MW分期爬坡；2026已完成供电模式转换不代表合同容量已全部兑现。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MP07 | Talen Q2 2026 Form 10-Q | 2026-08-05</a:t>
            </a:r>
          </a:p>
          <a:p xmlns:a="http://schemas.openxmlformats.org/drawingml/2006/main">
            <a:r>
              <a:t>印刷第5页现金流；第14页注8；第25–27页注13；第34/39页；第44页AWS词汇定义</a:t>
            </a:r>
          </a:p>
          <a:p xmlns:a="http://schemas.openxmlformats.org/drawingml/2006/main">
            <a:r>
              <a:t>https://www.sec.gov/Archives/edgar/data/1622536/000162253626000066/tln-20260630.htm</a:t>
            </a:r>
          </a:p>
          <a:p xmlns:a="http://schemas.openxmlformats.org/drawingml/2006/main">
            <a:r>
              <a:t>局限：股权奖励经济成本与未来增长投入仍需研究假设；495百万美元为集中到期奖励结算，不能年化。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MP09 | TLN Yahoo daily unadjusted close | 2026-09-04</a:t>
            </a:r>
          </a:p>
          <a:p xmlns:a="http://schemas.openxmlformats.org/drawingml/2006/main">
            <a:r>
              <a:t>2026-09-04日线；indicators.quote.close</a:t>
            </a:r>
          </a:p>
          <a:p xmlns:a="http://schemas.openxmlformats.org/drawingml/2006/main">
            <a:r>
              <a:t>https://query1.finance.yahoo.com/v8/finance/chart/TLN?interval=1d&amp;range=1mo</a:t>
            </a:r>
          </a:p>
          <a:p xmlns:a="http://schemas.openxmlformats.org/drawingml/2006/main">
            <a:r>
              <a:t>局限：价格为日线未调整收盘；时间戳为该日交易时段起点，不是收盘时刻。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SEMI10 | Q2 FY2027 Earnings Release | 2026-08-26</a:t>
            </a:r>
          </a:p>
          <a:p xmlns:a="http://schemas.openxmlformats.org/drawingml/2006/main">
            <a:r>
              <a:t>Income statement/cash flow statement</a:t>
            </a:r>
          </a:p>
          <a:p xmlns:a="http://schemas.openxmlformats.org/drawingml/2006/main">
            <a:r>
              <a:t>https://nvidianews.nvidia.com/news/nvidia-announces-financial-results-for-second-quarter-fiscal-2027</a:t>
            </a:r>
          </a:p>
          <a:p xmlns:a="http://schemas.openxmlformats.org/drawingml/2006/main">
            <a:r>
              <a:t>局限：Q3为指引；中国出口限制及ASIC竞争风险；证券收益与供应融资需单列，不能直接以净利年化。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P13 | Half Year 2026 Results | 2026-07-30</a:t>
            </a:r>
          </a:p>
          <a:p xmlns:a="http://schemas.openxmlformats.org/drawingml/2006/main">
            <a:r>
              <a:t>2026H1 / Q2 / FY2026 targets</a:t>
            </a:r>
          </a:p>
          <a:p xmlns:a="http://schemas.openxmlformats.org/drawingml/2006/main">
            <a:r>
              <a:t>https://www.se.com/ww/en/assets/pdf/release-hy-results-2026</a:t>
            </a:r>
          </a:p>
          <a:p xmlns:a="http://schemas.openxmlformats.org/drawingml/2006/main">
            <a:r>
              <a:t>局限：运营现金流在公司该表中为营运资本变动前口径；FCF同比含去年罚款基数；无液冷独立收入/利润。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P04 | Q3 FY2026 earnings release and financial results | 2026-08-05</a:t>
            </a:r>
          </a:p>
          <a:p xmlns:a="http://schemas.openxmlformats.org/drawingml/2006/main">
            <a:r>
              <a:t>FY2026Q3 ended 2026-06-30 / FY2026 guidance</a:t>
            </a:r>
          </a:p>
          <a:p xmlns:a="http://schemas.openxmlformats.org/drawingml/2006/main">
            <a:r>
              <a:t>https://assets.siemens-energy.com/dam/30018eed-275d-4e73-811e-b49d004cdc3d/2026-08-05-Earnings_Release_Q3_FY26_EN-pdf_Original%20file.pdf</a:t>
            </a:r>
          </a:p>
          <a:p xmlns:a="http://schemas.openxmlformats.org/drawingml/2006/main">
            <a:r>
              <a:t>局限：财政年度截至9月；税前FCF指引不能和美国公司税后FCF直接比较。GS/GT积压包含大量非AI客户。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P05 | Q3 FY2026 analyst presentation | 2026-08-05</a:t>
            </a:r>
          </a:p>
          <a:p xmlns:a="http://schemas.openxmlformats.org/drawingml/2006/main">
            <a:r>
              <a:t>FY2026Q3 / capacity to FY2030</a:t>
            </a:r>
          </a:p>
          <a:p xmlns:a="http://schemas.openxmlformats.org/drawingml/2006/main">
            <a:r>
              <a:t>https://assets.siemens-energy.com/dam/3e846440-66dd-4a56-be75-b49d004e6741/2026-08-05_Q3_Analyst_presentation-pdf_Original%20file.pdf</a:t>
            </a:r>
          </a:p>
          <a:p xmlns:a="http://schemas.openxmlformats.org/drawingml/2006/main">
            <a:r>
              <a:t>局限：扩产为公司计划；图表数值需要保留机组大小和单位，不能将台数与GW混用。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P06 | 2025 Capital Market Day — Gas Services | 2025-11-20</a:t>
            </a:r>
          </a:p>
          <a:p xmlns:a="http://schemas.openxmlformats.org/drawingml/2006/main">
            <a:r>
              <a:t>FY2024-2030</a:t>
            </a:r>
          </a:p>
          <a:p xmlns:a="http://schemas.openxmlformats.org/drawingml/2006/main">
            <a:r>
              <a:t>https://assets.siemens-energy.com/dam/5fc093ca-4fd8-482c-8390-b39b004f66f3/251120_CMD-2025_Gas_Services_FINAL-pdf_Original%20file.pdf</a:t>
            </a:r>
          </a:p>
          <a:p xmlns:a="http://schemas.openxmlformats.org/drawingml/2006/main">
            <a:r>
              <a:t>局限：2025年预测，扩产进度以2026年P05更新；GW口径包含联合循环蒸汽轮机容量。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P07 | 2025 Capital Market Day — Grid Technologies | 2025-11-20</a:t>
            </a:r>
          </a:p>
          <a:p xmlns:a="http://schemas.openxmlformats.org/drawingml/2006/main">
            <a:r>
              <a:t>FY2023-2030</a:t>
            </a:r>
          </a:p>
          <a:p xmlns:a="http://schemas.openxmlformats.org/drawingml/2006/main">
            <a:r>
              <a:t>https://assets.siemens-energy.com/dam/d8d5d849-a7a9-4b19-a969-b39b004f6c26/251120_CMD-2025_Grid_Technologies_FINAL-pdf_Original%20file.pdf</a:t>
            </a:r>
          </a:p>
          <a:p xmlns:a="http://schemas.openxmlformats.org/drawingml/2006/main">
            <a:r>
              <a:t>局限：市场缺口图由公司内部估计，不能当独立行业统计；投资包含变压器、开关设备及地产。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SEMI12 | Q3 FY2026 Financial Results and Dividend | 2026-09-02</a:t>
            </a:r>
          </a:p>
          <a:p xmlns:a="http://schemas.openxmlformats.org/drawingml/2006/main">
            <a:r>
              <a:t>Financial statements and CEO quote</a:t>
            </a:r>
          </a:p>
          <a:p xmlns:a="http://schemas.openxmlformats.org/drawingml/2006/main">
            <a:r>
              <a:t>https://www.prnewswire.com/news-releases/broadcom-inc-announces-third-quarter-fiscal-year-2026-financial-results-and-quarterly-dividend-302868129.html</a:t>
            </a:r>
          </a:p>
          <a:p xmlns:a="http://schemas.openxmlformats.org/drawingml/2006/main">
            <a:r>
              <a:t>局限：半导体与软件利润混合；非GAAP剔除SBC，Q3SBC为2.019bnUSD；净债35.444bnUSD。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P10 | Q2 2026 earnings release — SEC Exhibit 99.1 | 2026-07-29</a:t>
            </a:r>
          </a:p>
          <a:p xmlns:a="http://schemas.openxmlformats.org/drawingml/2006/main">
            <a:r>
              <a:t>2026Q2 / FY2026 guidance</a:t>
            </a:r>
          </a:p>
          <a:p xmlns:a="http://schemas.openxmlformats.org/drawingml/2006/main">
            <a:r>
              <a:t>https://www.sec.gov/Archives/edgar/data/1674101/000162828026050323/q22026exhibit991vrt07292026.htm</a:t>
            </a:r>
          </a:p>
          <a:p xmlns:a="http://schemas.openxmlformats.org/drawingml/2006/main">
            <a:r>
              <a:t>局限：液冷收入/利润未独立披露；不得将整体增长和利润率全部归因液冷。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P11 | Q2 2026 Form 10-Q | 2026-07-29</a:t>
            </a:r>
          </a:p>
          <a:p xmlns:a="http://schemas.openxmlformats.org/drawingml/2006/main">
            <a:r>
              <a:t>2026Q2 / H1 ended 2026-06-30</a:t>
            </a:r>
          </a:p>
          <a:p xmlns:a="http://schemas.openxmlformats.org/drawingml/2006/main">
            <a:r>
              <a:t>https://www.sec.gov/Archives/edgar/data/1674101/000162828026050609/vrt-20260630.htm</a:t>
            </a:r>
          </a:p>
          <a:p xmlns:a="http://schemas.openxmlformats.org/drawingml/2006/main">
            <a:r>
              <a:t>局限：存在营运资本及预收收入现金流贡献；6月底净现金并非研究日并购完成后的现金状况。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P12 | Utility Innovation Holdings acquisition — Form 8-K | 2026-09-02</a:t>
            </a:r>
          </a:p>
          <a:p xmlns:a="http://schemas.openxmlformats.org/drawingml/2006/main">
            <a:r>
              <a:t>Agreement dated 2026-09-01; expected close Q4 2026</a:t>
            </a:r>
          </a:p>
          <a:p xmlns:a="http://schemas.openxmlformats.org/drawingml/2006/main">
            <a:r>
              <a:t>https://www.sec.gov/Archives/edgar/data/1674101/000119312526379306/d472406d8k.htm</a:t>
            </a:r>
          </a:p>
          <a:p xmlns:a="http://schemas.openxmlformats.org/drawingml/2006/main">
            <a:r>
              <a:t>局限：尚未交割；最高earnout取决于EBITDA目标，不能全部视为已付，也不能全忽略。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P08 | Q2 2026 earnings release — SEC Exhibit 99 | 2026-07-31</a:t>
            </a:r>
          </a:p>
          <a:p xmlns:a="http://schemas.openxmlformats.org/drawingml/2006/main">
            <a:r>
              <a:t>2026Q2 / FY2026 guidance</a:t>
            </a:r>
          </a:p>
          <a:p xmlns:a="http://schemas.openxmlformats.org/drawingml/2006/main">
            <a:r>
              <a:t>https://www.sec.gov/Archives/edgar/data/1551182/000155118226000027/etn06302026exhibit99.htm</a:t>
            </a:r>
          </a:p>
          <a:p xmlns:a="http://schemas.openxmlformats.org/drawingml/2006/main">
            <a:r>
              <a:t>局限：headline增长包含并购；滚动12个月订单增速不是当季订单同比；调整EPS有大额摊销/交易费用剔除。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P09 | Q2 2026 Form 10-Q | 2026-07-31</a:t>
            </a:r>
          </a:p>
          <a:p xmlns:a="http://schemas.openxmlformats.org/drawingml/2006/main">
            <a:r>
              <a:t>2026Q2 / H1 ended 2026-06-30</a:t>
            </a:r>
          </a:p>
          <a:p xmlns:a="http://schemas.openxmlformats.org/drawingml/2006/main">
            <a:r>
              <a:t>https://www.sec.gov/Archives/edgar/data/1551182/000155118226000030/etn-20260630.htm</a:t>
            </a:r>
          </a:p>
          <a:p xmlns:a="http://schemas.openxmlformats.org/drawingml/2006/main">
            <a:r>
              <a:t>局限：积压定义为客户明确承诺订单，但公司没有将数据中心/AI积压独立量化。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SEMI04 | FY2026Q2 Earnings Release | 2026-07-29</a:t>
            </a:r>
          </a:p>
          <a:p xmlns:a="http://schemas.openxmlformats.org/drawingml/2006/main">
            <a:r>
              <a:t>Main press release</a:t>
            </a:r>
          </a:p>
          <a:p xmlns:a="http://schemas.openxmlformats.org/drawingml/2006/main">
            <a:r>
              <a:t>https://news.skhynix.com/en/q2-2026-business-results/</a:t>
            </a:r>
          </a:p>
          <a:p xmlns:a="http://schemas.openxmlformats.org/drawingml/2006/main">
            <a:r>
              <a:t>局限：公司声称技术领先，未提供独立验证份额或HBM单独毛利，不能沿用旧HBM市占率。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SEMI05 | FY2026Q2 Earnings Presentation | 2026-07-29</a:t>
            </a:r>
          </a:p>
          <a:p xmlns:a="http://schemas.openxmlformats.org/drawingml/2006/main">
            <a:r>
              <a:t>pp6,12,14,15</a:t>
            </a:r>
          </a:p>
          <a:p xmlns:a="http://schemas.openxmlformats.org/drawingml/2006/main">
            <a:r>
              <a:t>https://mis-prod-koce-homepage-cdn-01-blob-ep.azureedge.net/web/attach/13571040283022005.pdf</a:t>
            </a:r>
          </a:p>
          <a:p xmlns:a="http://schemas.openxmlformats.org/drawingml/2006/main">
            <a:r>
              <a:t>局限：数字四舍五入；p14 Q1 EPS21522与同表Q1净利40346bn/股数712m不一致，Q1EPS排除；新闻PDF声明尚未完成审阅。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SEMI06 | Share buyback and retirement | 2026-08-19</a:t>
            </a:r>
          </a:p>
          <a:p xmlns:a="http://schemas.openxmlformats.org/drawingml/2006/main">
            <a:r>
              <a:t>Board resolution announcement</a:t>
            </a:r>
          </a:p>
          <a:p xmlns:a="http://schemas.openxmlformats.org/drawingml/2006/main">
            <a:r>
              <a:t>https://news.skhynix.com/en/share-buyback-and-retirement/</a:t>
            </a:r>
          </a:p>
          <a:p xmlns:a="http://schemas.openxmlformats.org/drawingml/2006/main">
            <a:r>
              <a:t>局限：截至9月5日尚未完成全部回购；不等于已注销；公司认为低估是观点，非独立估值。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SEMI07 | Indiana HBM facility groundbreaking | 2026-08-28</a:t>
            </a:r>
          </a:p>
          <a:p xmlns:a="http://schemas.openxmlformats.org/drawingml/2006/main">
            <a:r>
              <a:t>Investment schedule</a:t>
            </a:r>
          </a:p>
          <a:p xmlns:a="http://schemas.openxmlformats.org/drawingml/2006/main">
            <a:r>
              <a:t>https://news.skhynix.com/en/groundbreaking-ceremony-in-indiana/</a:t>
            </a:r>
          </a:p>
          <a:p xmlns:a="http://schemas.openxmlformats.org/drawingml/2006/main">
            <a:r>
              <a:t>局限：韩国M15X/龙仁及其他公司扩产仍会在窗口内新增供给；美国项目只是局部。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SEMI11 | Second Quarter 2026 Results | 2026-07-30</a:t>
            </a:r>
          </a:p>
          <a:p xmlns:a="http://schemas.openxmlformats.org/drawingml/2006/main">
            <a:r>
              <a:t>DS division and outlook</a:t>
            </a:r>
          </a:p>
          <a:p xmlns:a="http://schemas.openxmlformats.org/drawingml/2006/main">
            <a:r>
              <a:t>https://news.samsung.com/global/samsung-electronics-announces-second-quarter-2026-results</a:t>
            </a:r>
          </a:p>
          <a:p xmlns:a="http://schemas.openxmlformats.org/drawingml/2006/main">
            <a:r>
              <a:t>局限：公司自称技术领先；未提供HBM单独毛利或份额；DS包括其他业务。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SEMI01 | Q3 FY2026 Prepared Remarks | 2026-06-24</a:t>
            </a:r>
          </a:p>
          <a:p xmlns:a="http://schemas.openxmlformats.org/drawingml/2006/main">
            <a:r>
              <a:t>pp1–3</a:t>
            </a:r>
          </a:p>
          <a:p xmlns:a="http://schemas.openxmlformats.org/drawingml/2006/main">
            <a:r>
              <a:t>https://s25.q4cdn.com/621799436/files/doc_financials/2026/q3/Q3-FY26-Prepared-Remarks.pdf</a:t>
            </a:r>
          </a:p>
          <a:p xmlns:a="http://schemas.openxmlformats.org/drawingml/2006/main">
            <a:r>
              <a:t>局限：最低合同额跨至 2030 年；22bn 含存款和相关承诺，预计现金存款约 18bn；可退款，收款时列融资现金流。地板价格未公开。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SEMI02 | Q3 FY2026 Prepared Remarks | 2026-06-24</a:t>
            </a:r>
          </a:p>
          <a:p xmlns:a="http://schemas.openxmlformats.org/drawingml/2006/main">
            <a:r>
              <a:t>pp2,4–6,10</a:t>
            </a:r>
          </a:p>
          <a:p xmlns:a="http://schemas.openxmlformats.org/drawingml/2006/main">
            <a:r>
              <a:t>https://s25.q4cdn.com/621799436/files/doc_financials/2026/q3/Q3-FY26-Prepared-Remarks.pdf</a:t>
            </a:r>
          </a:p>
          <a:p xmlns:a="http://schemas.openxmlformats.org/drawingml/2006/main">
            <a:r>
              <a:t>局限：2027紧张是供应商预测；对价格上限约束、成本上升和新增产能需做正常化估值。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SEMI03 | FY2026Q3 Release | 2026-06-24</a:t>
            </a:r>
          </a:p>
          <a:p xmlns:a="http://schemas.openxmlformats.org/drawingml/2006/main">
            <a:r>
              <a:t>财务报表与 FCF 对账</a:t>
            </a:r>
          </a:p>
          <a:p xmlns:a="http://schemas.openxmlformats.org/drawingml/2006/main">
            <a:r>
              <a:t>https://investors.micron.com/news/press-release/2026/Micron-Technology-Inc--Reports-Record-Results-for-the-Third-Quarter-of-Fiscal-2026/default.aspx</a:t>
            </a:r>
          </a:p>
          <a:p xmlns:a="http://schemas.openxmlformats.org/drawingml/2006/main">
            <a:r>
              <a:t>局限：季度毛利84.6%异常高，不作为永续正常率；披露FCF包含补助净额，与普通FCF不同。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 | Micron SEC companyfacts | 2026-06-25</a:t>
            </a:r>
          </a:p>
          <a:p xmlns:a="http://schemas.openxmlformats.org/drawingml/2006/main">
            <a:r>
              <a:t>accn 0000723125-26-000015；YTD 2025-08-29 至 2026-05-28</a:t>
            </a:r>
          </a:p>
          <a:p xmlns:a="http://schemas.openxmlformats.org/drawingml/2006/main">
            <a:r>
              <a:t>https://data.sec.gov/api/xbrl/companyfacts/CIK0000723125.json</a:t>
            </a:r>
          </a:p>
          <a:p xmlns:a="http://schemas.openxmlformats.org/drawingml/2006/main">
            <a:r>
              <a:t>局限：YTD 不是单季；公司 FCF 与标准 CFO－PP&amp;E 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P01 | Q2 2026 earnings release | 2026-07-22</a:t>
            </a:r>
          </a:p>
          <a:p xmlns:a="http://schemas.openxmlformats.org/drawingml/2006/main">
            <a:r>
              <a:t>2026Q2 / H1 / FY2026 guidance</a:t>
            </a:r>
          </a:p>
          <a:p xmlns:a="http://schemas.openxmlformats.org/drawingml/2006/main">
            <a:r>
              <a:t>https://www.gevernova.com/sites/default/files/gev_webcast_pressrelease_07222026.pdf</a:t>
            </a:r>
          </a:p>
          <a:p xmlns:a="http://schemas.openxmlformats.org/drawingml/2006/main">
            <a:r>
              <a:t>局限：公司披露；含非GAAP指标、Prolec并表及长周期业务；全公司积压不等于AI订单。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P02 | Q2 2026 management transcript | 2026-07-22</a:t>
            </a:r>
          </a:p>
          <a:p xmlns:a="http://schemas.openxmlformats.org/drawingml/2006/main">
            <a:r>
              <a:t>2026Q2；2028/2030 capacity plans</a:t>
            </a:r>
          </a:p>
          <a:p xmlns:a="http://schemas.openxmlformats.org/drawingml/2006/main">
            <a:r>
              <a:t>https://www.gevernova.com/sites/default/files/gev_webcast_transcript_07222026.pdf</a:t>
            </a:r>
          </a:p>
          <a:p xmlns:a="http://schemas.openxmlformats.org/drawingml/2006/main">
            <a:r>
              <a:t>局限：公司管理层判断和扩产计划；SRA仅为产能预订，不等同正式设备积压。与P01属于同次业绩披露。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P03 | Q2 2026 investor presentation | 2026-07-22</a:t>
            </a:r>
          </a:p>
          <a:p xmlns:a="http://schemas.openxmlformats.org/drawingml/2006/main">
            <a:r>
              <a:t>2026Q2</a:t>
            </a:r>
          </a:p>
          <a:p xmlns:a="http://schemas.openxmlformats.org/drawingml/2006/main">
            <a:r>
              <a:t>https://www.gevernova.com/sites/default/files/gev_webcast_presentation_07222026.pdf</a:t>
            </a:r>
          </a:p>
          <a:p xmlns:a="http://schemas.openxmlformats.org/drawingml/2006/main">
            <a:r>
              <a:t>局限：与P01/P02为同次披露，不能视作独立第三方交叉验证。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P14 | Q2 2026 Form 10-Q | 2026-07-22</a:t>
            </a:r>
          </a:p>
          <a:p xmlns:a="http://schemas.openxmlformats.org/drawingml/2006/main">
            <a:r>
              <a:t>H1/Q2 ended 2026-06-30</a:t>
            </a:r>
          </a:p>
          <a:p xmlns:a="http://schemas.openxmlformats.org/drawingml/2006/main">
            <a:r>
              <a:t>https://www.gevernova.com/sites/default/files/gev_webcast_10q_07222026.pdf</a:t>
            </a:r>
          </a:p>
          <a:p xmlns:a="http://schemas.openxmlformats.org/drawingml/2006/main">
            <a:r>
              <a:t>局限：净利润含Prolec重新估值收益3992m；现金表头含restricted cash。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SEMI09 | Q2 2026 Consolidated Financial Report | 2026-08-14</a:t>
            </a:r>
          </a:p>
          <a:p xmlns:a="http://schemas.openxmlformats.org/drawingml/2006/main">
            <a:r>
              <a:t>合并损益表、现金流量表；Note13；Note25</a:t>
            </a:r>
          </a:p>
          <a:p xmlns:a="http://schemas.openxmlformats.org/drawingml/2006/main">
            <a:r>
              <a:t>https://www.sec.gov/Archives/edgar/data/1046179/000104617926000541/a2026q2consolidatedreport-.htm</a:t>
            </a:r>
          </a:p>
          <a:p xmlns:a="http://schemas.openxmlformats.org/drawingml/2006/main">
            <a:r>
              <a:t>局限：原披露单位为千新台币；底稿换算为百万新台币。ADS＝5 普通股；Q2 的 VIS 处置及重估收益在估值中剔除。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SEMI08 | Q2 2026 earnings call, management quotations hosted by Yahoo/Quartr | 2026-07-16</a:t>
            </a:r>
          </a:p>
          <a:p xmlns:a="http://schemas.openxmlformats.org/drawingml/2006/main">
            <a:r>
              <a:t>timestamps00:07:55,00:33:54,00:43:29,00:57:17</a:t>
            </a:r>
          </a:p>
          <a:p xmlns:a="http://schemas.openxmlformats.org/drawingml/2006/main">
            <a:r>
              <a:t>https://finance.yahoo.com/quote/TSM/earnings/TSM-Q2-2026-earnings_call-649922.html</a:t>
            </a:r>
          </a:p>
          <a:p xmlns:a="http://schemas.openxmlformats.org/drawingml/2006/main">
            <a:r>
              <a:t>局限：管理层原话二级转载，官方逐字稿链接已验证但无法保存正文；未采用外部未核实月产能数字。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P02 | Q2 2026 management transcript | 2026-07-22</a:t>
            </a:r>
          </a:p>
          <a:p xmlns:a="http://schemas.openxmlformats.org/drawingml/2006/main">
            <a:r>
              <a:t>2026Q2；2028/2030 capacity plans</a:t>
            </a:r>
          </a:p>
          <a:p xmlns:a="http://schemas.openxmlformats.org/drawingml/2006/main">
            <a:r>
              <a:t>https://www.gevernova.com/sites/default/files/gev_webcast_transcript_07222026.pdf</a:t>
            </a:r>
          </a:p>
          <a:p xmlns:a="http://schemas.openxmlformats.org/drawingml/2006/main">
            <a:r>
              <a:t>局限：公司管理层判断和扩产计划；SRA仅为产能预订，不等同正式设备积压。与P01属于同次业绩披露。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P05 | Q3 FY2026 analyst presentation | 2026-08-05</a:t>
            </a:r>
          </a:p>
          <a:p xmlns:a="http://schemas.openxmlformats.org/drawingml/2006/main">
            <a:r>
              <a:t>FY2026Q3 / capacity to FY2030</a:t>
            </a:r>
          </a:p>
          <a:p xmlns:a="http://schemas.openxmlformats.org/drawingml/2006/main">
            <a:r>
              <a:t>https://assets.siemens-energy.com/dam/3e846440-66dd-4a56-be75-b49d004e6741/2026-08-05_Q3_Analyst_presentation-pdf_Original%20file.pdf</a:t>
            </a:r>
          </a:p>
          <a:p xmlns:a="http://schemas.openxmlformats.org/drawingml/2006/main">
            <a:r>
              <a:t>局限：扩产为公司计划；图表数值需要保留机组大小和单位，不能将台数与GW混用。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SEMI02 | Q3 FY2026 Prepared Remarks | 2026-06-24</a:t>
            </a:r>
          </a:p>
          <a:p xmlns:a="http://schemas.openxmlformats.org/drawingml/2006/main">
            <a:r>
              <a:t>pp2,4–6,10</a:t>
            </a:r>
          </a:p>
          <a:p xmlns:a="http://schemas.openxmlformats.org/drawingml/2006/main">
            <a:r>
              <a:t>https://s25.q4cdn.com/621799436/files/doc_financials/2026/q3/Q3-FY26-Prepared-Remarks.pdf</a:t>
            </a:r>
          </a:p>
          <a:p xmlns:a="http://schemas.openxmlformats.org/drawingml/2006/main">
            <a:r>
              <a:t>局限：2027紧张是供应商预测；对价格上限约束、成本上升和新增产能需做正常化估值。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SEMI11 | Second Quarter 2026 Results | 2026-07-30</a:t>
            </a:r>
          </a:p>
          <a:p xmlns:a="http://schemas.openxmlformats.org/drawingml/2006/main">
            <a:r>
              <a:t>DS division and outlook</a:t>
            </a:r>
          </a:p>
          <a:p xmlns:a="http://schemas.openxmlformats.org/drawingml/2006/main">
            <a:r>
              <a:t>https://news.samsung.com/global/samsung-electronics-announces-second-quarter-2026-results</a:t>
            </a:r>
          </a:p>
          <a:p xmlns:a="http://schemas.openxmlformats.org/drawingml/2006/main">
            <a:r>
              <a:t>局限：公司自称技术领先；未提供HBM单独毛利或份额；DS包括其他业务。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P08 | Q2 2026 earnings release — SEC Exhibit 99 | 2026-07-31</a:t>
            </a:r>
          </a:p>
          <a:p xmlns:a="http://schemas.openxmlformats.org/drawingml/2006/main">
            <a:r>
              <a:t>2026Q2 / FY2026 guidance</a:t>
            </a:r>
          </a:p>
          <a:p xmlns:a="http://schemas.openxmlformats.org/drawingml/2006/main">
            <a:r>
              <a:t>https://www.sec.gov/Archives/edgar/data/1551182/000155118226000027/etn06302026exhibit99.htm</a:t>
            </a:r>
          </a:p>
          <a:p xmlns:a="http://schemas.openxmlformats.org/drawingml/2006/main">
            <a:r>
              <a:t>局限：headline增长包含并购；滚动12个月订单增速不是当季订单同比；调整EPS有大额摊销/交易费用剔除。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P13 | Half Year 2026 Results | 2026-07-30</a:t>
            </a:r>
          </a:p>
          <a:p xmlns:a="http://schemas.openxmlformats.org/drawingml/2006/main">
            <a:r>
              <a:t>2026H1 / Q2 / FY2026 targets</a:t>
            </a:r>
          </a:p>
          <a:p xmlns:a="http://schemas.openxmlformats.org/drawingml/2006/main">
            <a:r>
              <a:t>https://www.se.com/ww/en/assets/pdf/release-hy-results-2026</a:t>
            </a:r>
          </a:p>
          <a:p xmlns:a="http://schemas.openxmlformats.org/drawingml/2006/main">
            <a:r>
              <a:t>局限：运营现金流在公司该表中为营运资本变动前口径；FCF同比含去年罚款基数；无液冷独立收入/利润。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SEMI11 | Second Quarter 2026 Results | 2026-07-30</a:t>
            </a:r>
          </a:p>
          <a:p xmlns:a="http://schemas.openxmlformats.org/drawingml/2006/main">
            <a:r>
              <a:t>DS division and outlook</a:t>
            </a:r>
          </a:p>
          <a:p xmlns:a="http://schemas.openxmlformats.org/drawingml/2006/main">
            <a:r>
              <a:t>https://news.samsung.com/global/samsung-electronics-announces-second-quarter-2026-results</a:t>
            </a:r>
          </a:p>
          <a:p xmlns:a="http://schemas.openxmlformats.org/drawingml/2006/main">
            <a:r>
              <a:t>局限：公司自称技术领先；未提供HBM单独毛利或份额；DS包括其他业务。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SEMI13 | Q4 and Full FY2026 Results | 2026-08-11</a:t>
            </a:r>
          </a:p>
          <a:p xmlns:a="http://schemas.openxmlformats.org/drawingml/2006/main">
            <a:r>
              <a:t>pp1-2,5-8</a:t>
            </a:r>
          </a:p>
          <a:p xmlns:a="http://schemas.openxmlformats.org/drawingml/2006/main">
            <a:r>
              <a:t>https://s21.q4cdn.com/377324469/files/doc_news/Lumentum-Announces-Fourth-Quarter-and-Full-Fiscal-Year-2026-Results-2026.pdf</a:t>
            </a:r>
          </a:p>
          <a:p xmlns:a="http://schemas.openxmlformats.org/drawingml/2006/main">
            <a:r>
              <a:t>局限：尚未取得独立市场份额和统一供应缺口统计；债务转股损失不代表经营亏损，亏损期GAAP EPS也不能直接年化。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M01 | IEA Key Questions on Energy and AI | 2026-04-16</a:t>
            </a:r>
          </a:p>
          <a:p xmlns:a="http://schemas.openxmlformats.org/drawingml/2006/main">
            <a:r>
              <a:t>pp9–11,21–23,26–27,63–65</a:t>
            </a:r>
          </a:p>
          <a:p xmlns:a="http://schemas.openxmlformats.org/drawingml/2006/main">
            <a:r>
              <a:t>https://iea.blob.core.windows.net/assets/3179f7f8-01f6-4dd6-bffa-c9f7b73f1dc9/KeyQuestionsonEnergyandAI.pdf</a:t>
            </a:r>
          </a:p>
          <a:p xmlns:a="http://schemas.openxmlformats.org/drawingml/2006/main">
            <a:r>
              <a:t>局限：2030 为基准预测；并网申请量有重复和投机成分。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SEMI12 | Q3 FY2026 Financial Results and Dividend | 2026-09-02</a:t>
            </a:r>
          </a:p>
          <a:p xmlns:a="http://schemas.openxmlformats.org/drawingml/2006/main">
            <a:r>
              <a:t>Financial statements and CEO quote</a:t>
            </a:r>
          </a:p>
          <a:p xmlns:a="http://schemas.openxmlformats.org/drawingml/2006/main">
            <a:r>
              <a:t>https://www.prnewswire.com/news-releases/broadcom-inc-announces-third-quarter-fiscal-year-2026-financial-results-and-quarterly-dividend-302868129.html</a:t>
            </a:r>
          </a:p>
          <a:p xmlns:a="http://schemas.openxmlformats.org/drawingml/2006/main">
            <a:r>
              <a:t>局限：半导体与软件利润混合；非GAAP剔除SBC，Q3SBC为2.019bnUSD；净债35.444bnUSD。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SEMI09 | Q2 2026 Consolidated Financial Report | 2026-08-14</a:t>
            </a:r>
          </a:p>
          <a:p xmlns:a="http://schemas.openxmlformats.org/drawingml/2006/main">
            <a:r>
              <a:t>合并损益表、现金流量表；Note13；Note25</a:t>
            </a:r>
          </a:p>
          <a:p xmlns:a="http://schemas.openxmlformats.org/drawingml/2006/main">
            <a:r>
              <a:t>https://www.sec.gov/Archives/edgar/data/1046179/000104617926000541/a2026q2consolidatedreport-.htm</a:t>
            </a:r>
          </a:p>
          <a:p xmlns:a="http://schemas.openxmlformats.org/drawingml/2006/main">
            <a:r>
              <a:t>局限：原披露单位为千新台币；底稿换算为百万新台币。ADS＝5 普通股；Q2 的 VIS 处置及重估收益在估值中剔除。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MP01 | Constellation Reports Second Quarter 2026 Results | 2026-08-06</a:t>
            </a:r>
          </a:p>
          <a:p xmlns:a="http://schemas.openxmlformats.org/drawingml/2006/main">
            <a:r>
              <a:t>新闻稿；PDF 第1–4页：指引、Crane、新增PPA及调整盈利对账</a:t>
            </a:r>
          </a:p>
          <a:p xmlns:a="http://schemas.openxmlformats.org/drawingml/2006/main">
            <a:r>
              <a:t>https://www.constellationenergy.com/news/2026/08/constellation-reports-second-quarter-2026-results.html</a:t>
            </a:r>
          </a:p>
          <a:p xmlns:a="http://schemas.openxmlformats.org/drawingml/2006/main">
            <a:r>
              <a:t>局限：调整EPS为公司非GAAP口径；2027重启为目标；本季新增920MW合同2029–2032年开始。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MP02 | Constellation and Meta Sign 20-Year Clinton PPA | 2025-06-03</a:t>
            </a:r>
          </a:p>
          <a:p xmlns:a="http://schemas.openxmlformats.org/drawingml/2006/main">
            <a:r>
              <a:t>开头及ZEC替代、清洁能源属性段落</a:t>
            </a:r>
          </a:p>
          <a:p xmlns:a="http://schemas.openxmlformats.org/drawingml/2006/main">
            <a:r>
              <a:t>https://www.constellationenergy.com/news/2025/constellation-meta-sign-20-year-deal-for-clean-reliable-nuclear-energy-in-illinois.html</a:t>
            </a:r>
          </a:p>
          <a:p xmlns:a="http://schemas.openxmlformats.org/drawingml/2006/main">
            <a:r>
              <a:t>局限：1121MW主要为存量延续，仅30MW为增容；实际PPA单价和项目股东收益未披露。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MP03 | Constellation to Launch Crane Clean Energy Center | 2024-09-20</a:t>
            </a:r>
          </a:p>
          <a:p xmlns:a="http://schemas.openxmlformats.org/drawingml/2006/main">
            <a:r>
              <a:t>开头：微软20年PPA、约835MW及重启条件</a:t>
            </a:r>
          </a:p>
          <a:p xmlns:a="http://schemas.openxmlformats.org/drawingml/2006/main">
            <a:r>
              <a:t>https://www.constellationenergy.com/news/2024/Constellation-to-Launch-Crane-Clean-Energy-Center-Restoring-Jobs-and-Carbon-Free-Power-to-The-Grid.html</a:t>
            </a:r>
          </a:p>
          <a:p xmlns:a="http://schemas.openxmlformats.org/drawingml/2006/main">
            <a:r>
              <a:t>局限：原稿预计2028年投运；最新MP01已更新为2027年目标。合同成立不等于已投运。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MP04 | Talen Energy Reports Second Quarter 2026 Results, Raises 2026 Guidance | 2026-08-05</a:t>
            </a:r>
          </a:p>
          <a:p xmlns:a="http://schemas.openxmlformats.org/drawingml/2006/main">
            <a:r>
              <a:t>财务表、2026指引、调整FCF定义及对账</a:t>
            </a:r>
          </a:p>
          <a:p xmlns:a="http://schemas.openxmlformats.org/drawingml/2006/main">
            <a:r>
              <a:t>https://ir.talenenergy.com/news-releases/news-release-details/talen-energy-reports-second-quarter-2026-results-raises-2026/</a:t>
            </a:r>
          </a:p>
          <a:p xmlns:a="http://schemas.openxmlformats.org/drawingml/2006/main">
            <a:r>
              <a:t>局限：调整FCF已扣维护资本开支、核燃料、利息、现金税和养老金；排除开发/增长/转换资本开支及股权激励等。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MP05 | Talen Q2 2026 Results Presentation | 2026-08-05</a:t>
            </a:r>
          </a:p>
          <a:p xmlns:a="http://schemas.openxmlformats.org/drawingml/2006/main">
            <a:r>
              <a:t>PDF第10/12/16–18/20–22页；印刷页码9/11/15–17/19–21</a:t>
            </a:r>
          </a:p>
          <a:p xmlns:a="http://schemas.openxmlformats.org/drawingml/2006/main">
            <a:r>
              <a:t>https://ir.talenenergy.com/static-files/bf510e55-32b6-4dc4-b863-5b59c086ba60</a:t>
            </a:r>
          </a:p>
          <a:p xmlns:a="http://schemas.openxmlformats.org/drawingml/2006/main">
            <a:r>
              <a:t>局限：2027/2028每股调整FCF为公司展望；基础固定47.9百万股；回购影响单列。2028仅30%发电量套保，仍有较高电价风险。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MP06 | Talen Energy Expands Nuclear Energy Relationship with Amazon | 2025-06-11</a:t>
            </a:r>
          </a:p>
          <a:p xmlns:a="http://schemas.openxmlformats.org/drawingml/2006/main">
            <a:r>
              <a:t>开头：1920MW、2042年到期、最晚2032年全量供电</a:t>
            </a:r>
          </a:p>
          <a:p xmlns:a="http://schemas.openxmlformats.org/drawingml/2006/main">
            <a:r>
              <a:t>https://ir.talenenergy.com/news-releases/news-release-details/talen-energy-expands-nuclear-energy-relationship-amazon/</a:t>
            </a:r>
          </a:p>
          <a:p xmlns:a="http://schemas.openxmlformats.org/drawingml/2006/main">
            <a:r>
              <a:t>局限：全量1920MW分期爬坡；2026已完成供电模式转换不代表合同容量已全部兑现。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MP07 | Talen Q2 2026 Form 10-Q | 2026-08-05</a:t>
            </a:r>
          </a:p>
          <a:p xmlns:a="http://schemas.openxmlformats.org/drawingml/2006/main">
            <a:r>
              <a:t>印刷第5页现金流；第14页注8；第25–27页注13；第34/39页；第44页AWS词汇定义</a:t>
            </a:r>
          </a:p>
          <a:p xmlns:a="http://schemas.openxmlformats.org/drawingml/2006/main">
            <a:r>
              <a:t>https://www.sec.gov/Archives/edgar/data/1622536/000162253626000066/tln-20260630.htm</a:t>
            </a:r>
          </a:p>
          <a:p xmlns:a="http://schemas.openxmlformats.org/drawingml/2006/main">
            <a:r>
              <a:t>局限：股权奖励经济成本与未来增长投入仍需研究假设；495百万美元为集中到期奖励结算，不能年化。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MP08 | CEG Yahoo daily unadjusted close | 2026-09-04</a:t>
            </a:r>
          </a:p>
          <a:p xmlns:a="http://schemas.openxmlformats.org/drawingml/2006/main">
            <a:r>
              <a:t>2026-09-04日线；indicators.quote.close</a:t>
            </a:r>
          </a:p>
          <a:p xmlns:a="http://schemas.openxmlformats.org/drawingml/2006/main">
            <a:r>
              <a:t>https://query1.finance.yahoo.com/v8/finance/chart/CEG?interval=1d&amp;range=1mo</a:t>
            </a:r>
          </a:p>
          <a:p xmlns:a="http://schemas.openxmlformats.org/drawingml/2006/main">
            <a:r>
              <a:t>局限：价格为日线未调整收盘；时间戳为该日交易时段起点，不是收盘时刻。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MP09 | TLN Yahoo daily unadjusted close | 2026-09-04</a:t>
            </a:r>
          </a:p>
          <a:p xmlns:a="http://schemas.openxmlformats.org/drawingml/2006/main">
            <a:r>
              <a:t>2026-09-04日线；indicators.quote.close</a:t>
            </a:r>
          </a:p>
          <a:p xmlns:a="http://schemas.openxmlformats.org/drawingml/2006/main">
            <a:r>
              <a:t>https://query1.finance.yahoo.com/v8/finance/chart/TLN?interval=1d&amp;range=1mo</a:t>
            </a:r>
          </a:p>
          <a:p xmlns:a="http://schemas.openxmlformats.org/drawingml/2006/main">
            <a:r>
              <a:t>局限：价格为日线未调整收盘；时间戳为该日交易时段起点，不是收盘时刻。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研究日：2026-09-05。所有预测均为研究情景，不是公司指引，除非明确标注。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4eaf3547140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58dea297ff4a72" /><Relationship Type="http://schemas.openxmlformats.org/officeDocument/2006/relationships/slideLayout" Target="/ppt/slideLayouts/slideLayout1.xml" Id="R717245f1852944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7245f1852944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117f5b1aa4f89" /><Relationship Type="http://schemas.openxmlformats.org/officeDocument/2006/relationships/image" Target="/ppt/media/image.png" Id="R0aa27a6502fc41e4" /><Relationship Type="http://schemas.openxmlformats.org/officeDocument/2006/relationships/notesSlide" Target="/ppt/notesSlides/notesSlide1.xml" Id="R63e5f6dcd32d4a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759466eca47b1" /><Relationship Type="http://schemas.openxmlformats.org/officeDocument/2006/relationships/notesSlide" Target="/ppt/notesSlides/notesSlide2.xml" Id="Rd8a36befeeed43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40c6902034124" /><Relationship Type="http://schemas.openxmlformats.org/officeDocument/2006/relationships/notesSlide" Target="/ppt/notesSlides/notesSlide3.xml" Id="Rbee95f5347d348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fbea8510f4626" /><Relationship Type="http://schemas.openxmlformats.org/officeDocument/2006/relationships/notesSlide" Target="/ppt/notesSlides/notesSlide4.xml" Id="R845d789de9a240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989b1bf8b4673" /><Relationship Type="http://schemas.openxmlformats.org/officeDocument/2006/relationships/notesSlide" Target="/ppt/notesSlides/notesSlide5.xml" Id="R902cea2c3f4643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fcb92a6f14645" /><Relationship Type="http://schemas.openxmlformats.org/officeDocument/2006/relationships/notesSlide" Target="/ppt/notesSlides/notesSlide6.xml" Id="Rc848bd3f55e841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7ee834d374731" /><Relationship Type="http://schemas.openxmlformats.org/officeDocument/2006/relationships/notesSlide" Target="/ppt/notesSlides/notesSlide7.xml" Id="Rca60c739d70042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9a2e1085242ed" /><Relationship Type="http://schemas.openxmlformats.org/officeDocument/2006/relationships/notesSlide" Target="/ppt/notesSlides/notesSlide8.xml" Id="R9681f08ec52648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daf0c79b74225" /><Relationship Type="http://schemas.openxmlformats.org/officeDocument/2006/relationships/notesSlide" Target="/ppt/notesSlides/notesSlide9.xml" Id="Ref75a1a6cf534d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6c616684942e0" /><Relationship Type="http://schemas.openxmlformats.org/officeDocument/2006/relationships/notesSlide" Target="/ppt/notesSlides/notesSlide10.xml" Id="R4a284f02c4b049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d1b1c25c34bc8" /><Relationship Type="http://schemas.openxmlformats.org/officeDocument/2006/relationships/notesSlide" Target="/ppt/notesSlides/notesSlide11.xml" Id="R2e3d64752bb645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750fd51fd40e7" /><Relationship Type="http://schemas.openxmlformats.org/officeDocument/2006/relationships/notesSlide" Target="/ppt/notesSlides/notesSlide12.xml" Id="Reb36cc3249e243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292d1078d4bae" /><Relationship Type="http://schemas.openxmlformats.org/officeDocument/2006/relationships/notesSlide" Target="/ppt/notesSlides/notesSlide13.xml" Id="R6dc87a99333044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454c338c146a5" /><Relationship Type="http://schemas.openxmlformats.org/officeDocument/2006/relationships/notesSlide" Target="/ppt/notesSlides/notesSlide14.xml" Id="R514031563e3445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69e71f5564fba" /><Relationship Type="http://schemas.openxmlformats.org/officeDocument/2006/relationships/notesSlide" Target="/ppt/notesSlides/notesSlide15.xml" Id="Rb2456263634742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cf19253b44793" /><Relationship Type="http://schemas.openxmlformats.org/officeDocument/2006/relationships/notesSlide" Target="/ppt/notesSlides/notesSlide16.xml" Id="R39f1d9f1ef4f499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1c5a33faa4575" /><Relationship Type="http://schemas.openxmlformats.org/officeDocument/2006/relationships/chart" Target="/ppt/slides/charts/chart1.xml" Id="Rb08dbbfe84264c6c" /><Relationship Type="http://schemas.openxmlformats.org/officeDocument/2006/relationships/notesSlide" Target="/ppt/notesSlides/notesSlide17.xml" Id="Rcbe265f43fac43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2e590172e4f4e" /><Relationship Type="http://schemas.openxmlformats.org/officeDocument/2006/relationships/notesSlide" Target="/ppt/notesSlides/notesSlide18.xml" Id="Rb3f30efb99834c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3a7b317424b92" /><Relationship Type="http://schemas.openxmlformats.org/officeDocument/2006/relationships/notesSlide" Target="/ppt/notesSlides/notesSlide19.xml" Id="Rc1fe7e18bcba46a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50072f1e845ff" /><Relationship Type="http://schemas.openxmlformats.org/officeDocument/2006/relationships/notesSlide" Target="/ppt/notesSlides/notesSlide20.xml" Id="Rd066443b62124bf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13c8685534181" /><Relationship Type="http://schemas.openxmlformats.org/officeDocument/2006/relationships/notesSlide" Target="/ppt/notesSlides/notesSlide21.xml" Id="Re09783cf8dc54c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168dcd86f4828" /><Relationship Type="http://schemas.openxmlformats.org/officeDocument/2006/relationships/notesSlide" Target="/ppt/notesSlides/notesSlide22.xml" Id="R95be7371164840f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26c8f72bf4910" /><Relationship Type="http://schemas.openxmlformats.org/officeDocument/2006/relationships/notesSlide" Target="/ppt/notesSlides/notesSlide23.xml" Id="R10ed31cd2afb4f0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c5b1bac0e4875" /><Relationship Type="http://schemas.openxmlformats.org/officeDocument/2006/relationships/notesSlide" Target="/ppt/notesSlides/notesSlide24.xml" Id="Rdd723b57d6114ad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基准年化回报</c:v>
          </c:tx>
          <c:spPr>
            <a:solidFill xmlns:a="http://schemas.openxmlformats.org/drawingml/2006/main">
              <a:srgbClr val="377F79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台积电</c:v>
                </c:pt>
                <c:pt idx="1">
                  <c:v>Talen</c:v>
                </c:pt>
                <c:pt idx="2">
                  <c:v>NVIDIA</c:v>
                </c:pt>
                <c:pt idx="3">
                  <c:v>施耐德</c:v>
                </c:pt>
                <c:pt idx="4">
                  <c:v>西门子能源</c:v>
                </c:pt>
                <c:pt idx="5">
                  <c:v>Broadcom</c:v>
                </c:pt>
                <c:pt idx="6">
                  <c:v>Vertiv</c:v>
                </c:pt>
                <c:pt idx="7">
                  <c:v>Eaton</c:v>
                </c:pt>
                <c:pt idx="8">
                  <c:v>SK 海力士</c:v>
                </c:pt>
                <c:pt idx="9">
                  <c:v>Micron</c:v>
                </c:pt>
                <c:pt idx="10">
                  <c:v>GE Vernova</c:v>
                </c:pt>
              </c:strCache>
            </c:strRef>
          </c:cat>
          <c:val>
            <c:numRef>
              <c:f>'Chart Data'!$B$2:$B$12</c:f>
              <c:numCache>
                <c:formatCode>0.0"%"</c:formatCode>
                <c:ptCount val="11"/>
                <c:pt idx="0">
                  <c:v>17.9</c:v>
                </c:pt>
                <c:pt idx="1">
                  <c:v>19.4</c:v>
                </c:pt>
                <c:pt idx="2">
                  <c:v>13.4</c:v>
                </c:pt>
                <c:pt idx="3">
                  <c:v>11.7</c:v>
                </c:pt>
                <c:pt idx="4">
                  <c:v>7.1</c:v>
                </c:pt>
                <c:pt idx="5">
                  <c:v>7</c:v>
                </c:pt>
                <c:pt idx="6">
                  <c:v>6.2</c:v>
                </c:pt>
                <c:pt idx="7">
                  <c:v>1</c:v>
                </c:pt>
                <c:pt idx="8">
                  <c:v>3.2</c:v>
                </c:pt>
                <c:pt idx="9">
                  <c:v>0.6</c:v>
                </c:pt>
                <c:pt idx="10">
                  <c:v>-5.6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BF8F0"/>
        </a:solidFill>
      </c:spPr>
    </c:plotArea>
    <c:plotVisOnly val="1"/>
  </c:chart>
  <c:spPr>
    <a:solidFill xmlns:a="http://schemas.openxmlformats.org/drawingml/2006/main">
      <a:srgbClr val="FBF8F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34D82-84D7-4AD2-B2B8-271E7E5C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C92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C928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4DC22-0AA5-4CF8-88FD-3127E973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 基础设施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DE89C-F24A-4845-AF74-0C471E0D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DE6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DDE6EC"/>
                </a:solidFill>
                <a:latin typeface="Noto Sans CJK SC"/>
                <a:ea typeface="Noto Sans CJK SC"/>
                <a:cs typeface="Noto Sans CJK SC"/>
              </a:rPr>
              <a:t>2026 年 9 月至 2028 年 9 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67F26-2C58-492B-A2DA-CD728F1C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07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A5871-30B2-4C54-B4B0-54F9CD22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8D5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C8D5DF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3A73B-49AA-4134-B199-ADDC6617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C92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C928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46FA2-4806-451E-859C-7978946E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704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供给瓶颈与股东收益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1FF80-6CBE-4D2C-9F32-CB8D4A76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7182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C92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F3C928"/>
                </a:solidFill>
                <a:latin typeface="Noto Sans CJK SC"/>
                <a:ea typeface="Noto Sans CJK SC"/>
                <a:cs typeface="Noto Sans CJK SC"/>
              </a:rPr>
              <a:t>投资委员会研究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7511D-12DE-49A1-B919-3355ECE3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DE6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DDE6EC"/>
                </a:solidFill>
                <a:latin typeface="Noto Sans CJK SC"/>
                <a:ea typeface="Noto Sans CJK SC"/>
                <a:cs typeface="Noto Sans CJK SC"/>
              </a:rPr>
              <a:t>全球上市公司 · 十一家公司估值</a:t>
            </a:r>
          </a:p>
          <a:p xmlns:a="http://schemas.openxmlformats.org/drawingml/2006/main">
            <a:pPr>
              <a:defRPr sz="1725" b="0">
                <a:solidFill>
                  <a:srgbClr val="DDE6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DDE6EC"/>
                </a:solidFill>
                <a:latin typeface="Noto Sans CJK SC"/>
                <a:ea typeface="Noto Sans CJK SC"/>
                <a:cs typeface="Noto Sans CJK SC"/>
              </a:rPr>
              <a:t>价格基准：2026 年 9 月 4 日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27a6502fc41e4"/>
          <a:stretch xmlns:a="http://schemas.openxmlformats.org/drawingml/2006/main"/>
        </p:blipFill>
        <p:spPr>
          <a:xfrm xmlns:a="http://schemas.openxmlformats.org/drawingml/2006/main">
            <a:off x="7905750" y="2038350"/>
            <a:ext cx="3752850" cy="3752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454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798CD-1AE8-4BB2-8A99-C56539AF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DAA33-FB9E-4497-B374-937C0FF1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台积电优先，Talen 适合较小仓位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5520A-B3E0-4EFF-A4E6-9F9242E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投资顺序综合现金兑现、持续盈利、估值和下行风险。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58A2B-37A4-49A0-A774-1F193A8E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7472F-7AA8-463B-905F-A9B3C324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B0240-05BE-4410-8156-77E91A6B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762250"/>
                <a:gridCol w="1428750"/>
                <a:gridCol w="2333625"/>
                <a:gridCol w="2600325"/>
              </a:tblGrid>
              <a:tr h="4762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顺序 / 公司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证券与现价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基准年化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买入上限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判断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  台积电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2330.TW  2,410.00 TWD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17.9%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2,531 TWD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可分批买入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  Talen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TLN  317.00 USD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19.4%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342 USD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可小额分批买入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  NVIDIA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NVDA  230.36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224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等待价格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  施耐德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SU.PA  288.00 EUR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11.7%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272 EUR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等待价格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  西门子能源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ENR.DE  146.52 EUR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127 EUR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等待价格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  Broadcom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AVGO  357.90 USD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310 USD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等待价格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012BA-6275-4DA8-B7B6-C3793867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买入上限对应 15% 年化门槛；均为 24 个月情景估值，未计税费和汇率。欧洲报价口径见底稿。</a:t>
            </a:r>
          </a:p>
        </p:txBody>
      </p:sp>
    </p:spTree>
    <p:extLst>
      <p:ext uri="{BB962C8B-B14F-4D97-AF65-F5344CB8AC3E}">
        <p14:creationId xmlns:p14="http://schemas.microsoft.com/office/powerpoint/2010/main" val="1631269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6CD85-C91E-4055-9EFB-6258B45C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8B9FA-8EE4-4251-9611-905542D9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短缺很强，也可能没有足够回报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B1400-CF68-4098-A83A-96C7CEA4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经营优势需要覆盖资本开支、收购成本和当前估值。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3B620-9387-4DFB-BA40-4CD07497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53009-FDF5-4DD4-8686-0BA8240B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7BF10-4CA4-4116-AB82-88527EA2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905000"/>
                <a:gridCol w="2190750"/>
                <a:gridCol w="4457700"/>
              </a:tblGrid>
              <a:tr h="547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顺序 / 公司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基准年化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悲观总回报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主要制约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  Vertiv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-51.4%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项目交付与液冷竞争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  Eaton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-44.9%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原料成本与并购债务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  SK 海力士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-67.8%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存储价格回落与扩产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  Micron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0.6%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-76.3%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高峰利润率难以延续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  GE Vernova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-5.6%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-61.3%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股价已要求大幅改善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8658C-F48B-4AD8-A36D-DD74A4E1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所有标的均按持续盈利估值；悲观情景是研究压力测试，不代表最大损失。</a:t>
            </a:r>
          </a:p>
        </p:txBody>
      </p:sp>
    </p:spTree>
    <p:extLst>
      <p:ext uri="{BB962C8B-B14F-4D97-AF65-F5344CB8AC3E}">
        <p14:creationId xmlns:p14="http://schemas.microsoft.com/office/powerpoint/2010/main" val="206838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F842E-BCD9-4DA5-8BBD-7BC2F8F3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A7E64-9DF6-446A-A479-F0DD2B2B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最慢的供给，在电力侧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9C984-3E00-4F38-95D1-45CA4E38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并网、变压器和燃机的交期跨越本次投资窗口。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140B0-CDA0-4F93-8FDB-2DB76ED7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B1F66-5B26-4AD7-8AA7-99DB7370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40291-A382-4085-8D5F-6B6F5BC2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14750"/>
                <a:gridCol w="3981450"/>
              </a:tblGrid>
              <a:tr h="5794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关键环节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补供给所需时间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难以快速解决的原因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并网与可用电力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部分地区 5–10 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许可、线路与施工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大型燃气轮机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约 5 年交期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制造、配套供应和工程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大型变压器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约 2–3 年交期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测试、工人和认证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HBM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压力可能延续至 2027 年末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晶圆消耗、良率和封装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先进制程与封装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近期扩产仍在爬坡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工艺、设备和客户认证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B19A9-C120-4AC8-8187-5E46F330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来源：IEA 2026 报告 pp21–23；公司计划只说明供给路径，不保证按时交付。</a:t>
            </a:r>
          </a:p>
        </p:txBody>
      </p:sp>
    </p:spTree>
    <p:extLst>
      <p:ext uri="{BB962C8B-B14F-4D97-AF65-F5344CB8AC3E}">
        <p14:creationId xmlns:p14="http://schemas.microsoft.com/office/powerpoint/2010/main" val="526105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DFDF0-96AA-469A-BBC8-9F357E85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47CED-E47B-44D2-A6C6-37BD6C2E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需求有收入支撑，也受到资金约束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FEDC0-8C9E-4E3D-A398-8F0FEABF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Cloud 收入不等于 AI 收入；数据中心用电是更宽的需求口径。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DF33D-A51B-454F-9261-92013AA0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EF631-C513-49F8-A83A-460B9B8C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D282C-79F5-42CD-A1C4-EB73085E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D2817-5921-4F2C-8CE5-2C13005F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485 → 950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C2438-B12A-40B8-BD3C-4BB7C213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5752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全球数据中心用电：TWh</a:t>
            </a:r>
          </a:p>
          <a:p xmlns:a="http://schemas.openxmlformats.org/drawingml/2006/main">
            <a:pPr>
              <a:defRPr sz="17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2025 实绩估计 → 2030 基准预测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A382E-7971-45EF-B5B5-C5454099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−58.55 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B66E7-5CF7-46CA-B95A-24ECB76E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Alphabet 2026 Q2 自由现金流</a:t>
            </a:r>
          </a:p>
          <a:p xmlns:a="http://schemas.openxmlformats.org/drawingml/2006/main">
            <a:pPr>
              <a:defRPr sz="17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单位：美元；CFO 减资本开支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053EB-E6BB-46F2-BEAC-2CFC214B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1125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Alphabet Q2 Cloud 收入 247.68 亿美元，同比增长 82%。</a:t>
            </a:r>
          </a:p>
          <a:p xmlns:a="http://schemas.openxmlformats.org/drawingml/2006/main">
            <a:pPr>
              <a:defRPr sz="1950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Cloud 营业利润 88.14 亿美元，资本开支仍超过集团经营现金流。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311B1-3A67-40C0-B005-63B8C356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Alphabet 当季还通过发股和举债融资。并网申请、规划投资与最终付款订单需要分别跟踪。</a:t>
            </a:r>
          </a:p>
        </p:txBody>
      </p:sp>
    </p:spTree>
    <p:extLst>
      <p:ext uri="{BB962C8B-B14F-4D97-AF65-F5344CB8AC3E}">
        <p14:creationId xmlns:p14="http://schemas.microsoft.com/office/powerpoint/2010/main" val="7654300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EFC54-505C-47F2-AEDF-E84067F1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FEC41-008C-4E0B-AD1B-1966FA35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电力稀缺能提价，收益兑现需要时间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DB3AF-1DD6-4089-96E9-B833E8D5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GEV 气机的正式设备积压与产能预订分开看。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89945-DE83-42C5-9A9E-6A462B54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753E7-7431-4077-B431-D66F2FF8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A69D2-8D65-41C7-9F13-D4F3EB73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3810000"/>
                <a:gridCol w="4029075"/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公开披露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投资含义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GEV 气机设备积压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53 GW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已有正式设备订单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GEV 气机产能预订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63 GW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未来可能转订单，仍有转化风险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GEV 新设备订单价格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较 Q4 2025 高逾 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包含产品组合变化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GEV 年产能计划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2026：20 GW</a:t>
                      </a:r>
                    </a:p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2028：24 GW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扩产缓慢，短期更利于定价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GEV 已签 GW 客户构成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传统客户约 80%</a:t>
                      </a:r>
                    </a:p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数据中心约 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短缺由 AI 与传统电力共同推动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D9527-79E6-40E3-A8DE-97C382F2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20 GW 为计划在 Q3 达到的年化生产能力；并不等于 2026 全年实际交货量。</a:t>
            </a:r>
          </a:p>
        </p:txBody>
      </p:sp>
    </p:spTree>
    <p:extLst>
      <p:ext uri="{BB962C8B-B14F-4D97-AF65-F5344CB8AC3E}">
        <p14:creationId xmlns:p14="http://schemas.microsoft.com/office/powerpoint/2010/main" val="2932949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A397B-6E4C-47E9-A09A-6BAABD96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352FF-E86F-4A62-B92D-426977E6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预付款改善现金，却附带交付义务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4AB95-0A01-4E74-9334-3907E0B3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GEV 与西门子能源不能直接沿用当期现金流高峰。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0F2D4-ED28-49DA-868E-DC041656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D843B-559D-4113-94E9-F15BADAB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6202E-189E-4D8C-97EE-0799254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381250"/>
                <a:gridCol w="3381375"/>
                <a:gridCol w="2790825"/>
              </a:tblGrid>
              <a:tr h="7191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公司 / 期间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现金流或净利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影响因素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处理方式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GEV / 2026 H1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98.97 亿美元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营运资本流入约 117 亿美元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模型为新增营运资本留现金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西门子能源</a:t>
                      </a:r>
                    </a:p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FY26 前三季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66.34 亿欧元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合同负债流入 53.59 亿欧元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按持续利润估值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GEV / 2026 H1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归母净利 54.13 亿美元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Prolec 税前重估 39.92 亿美元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剔除一次性重估收益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46C28-F82D-40ED-A916-C67C961E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公司的 FCF 指引可反映真实收款，但它不等于长期可重复的股东分配。</a:t>
            </a:r>
          </a:p>
        </p:txBody>
      </p:sp>
    </p:spTree>
    <p:extLst>
      <p:ext uri="{BB962C8B-B14F-4D97-AF65-F5344CB8AC3E}">
        <p14:creationId xmlns:p14="http://schemas.microsoft.com/office/powerpoint/2010/main" val="20811877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E718B-D07F-4137-AB3B-D5CA168B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CB67A-3362-4FA9-9655-FD91A29A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HBM 的约束更近，扩产反证也更近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68AD9-6831-4117-90DA-D2010996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本次模型把 2027 扩产与 2028 存储价格回落一起纳入。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1BDAE-F040-4BA2-918A-EB1FCFF9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F1C60-2573-42FD-9E1E-17A41B01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30EA6-7A37-4100-8CBD-48CF53F9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190875"/>
                <a:gridCol w="4552950"/>
              </a:tblGrid>
              <a:tr h="5810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证据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目前的收益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可能缓解短缺的变化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Micron：16 份长期协议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部分产量有保量与价格区间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地板价格未公开；大部分产量仍受周期影响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三星：HBM4 销售扩大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证明高端需求仍强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客户认证和竞争份额会变化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Micron：2027 新产能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近期供给需要爬坡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新加坡封装、Idaho 和 Tongluo 增产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SK Indiana：2029 H2 量产计划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本次窗口内贡献有限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不能提前计入 2027 的可售供给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台积电：先进封装仍紧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支持前端晶圆需求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外包封装可能分走部分加工利润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1B2DE-87F0-4284-B403-F58310FE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先进封装与 HBM 缺口比例尚缺统一数据；本研究以交付、利润和扩产证据判断。</a:t>
            </a:r>
          </a:p>
        </p:txBody>
      </p:sp>
    </p:spTree>
    <p:extLst>
      <p:ext uri="{BB962C8B-B14F-4D97-AF65-F5344CB8AC3E}">
        <p14:creationId xmlns:p14="http://schemas.microsoft.com/office/powerpoint/2010/main" val="1555559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6468D-DF30-4D0B-BC46-21BBF1BA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D1AD5-3DC5-46E9-AC7A-E5153479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Talen：已有核电合同，但现金流仍需扣减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B1D59-2FEF-4142-ABEE-C02DE711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投资排序第 2；现价 317 USD；基准年化约 19.4%。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681F0-5421-4EA8-920C-AE9DE87C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DC41E-34CC-4979-A9C7-BE798A73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9236B-2A08-4C0C-990A-DC4CB377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2524125"/>
                <a:gridCol w="4743450"/>
              </a:tblGrid>
              <a:tr h="477611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2028 基准现金流桥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金额 / 每股估值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依据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47761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公司基础调整 FCF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1,916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40 美元/股 × 47.9 百万股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761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持续激励股东成本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−200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研究估计；参考未来激励费用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47761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增长、退役支出与强制还本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−169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 增长＋40 退役＋29 还本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761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估算股东 FCF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1,547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相当于 32.3 美元/股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47761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退出倍数 / 目标价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14 倍 / 452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权益现金流倍数；未另计回购收益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761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15% 门槛买入上限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342 USD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债务、电价与停机风险限制仓位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77C5F-7684-4846-8220-B716B306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现金流以百万美元计。调整 FCF 已扣维护、核燃料、利息和税。净债 91.71 亿美元不再重复扣除。</a:t>
            </a:r>
          </a:p>
        </p:txBody>
      </p:sp>
    </p:spTree>
    <p:extLst>
      <p:ext uri="{BB962C8B-B14F-4D97-AF65-F5344CB8AC3E}">
        <p14:creationId xmlns:p14="http://schemas.microsoft.com/office/powerpoint/2010/main" val="7934694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CB150-91EC-418E-A416-1D2B4A5E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A1D5A-108D-494D-94CA-E7B1438B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商业核电的价值，要按合同交付年份计入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8E29A-C757-4482-9AE7-78E90EFD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存量发电、重启项目和新建核电的时间不同。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72EC7-E4FE-4E63-8893-49CC7EF7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16389-87DE-4BF5-B19E-DCCDCAD3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DF20C-40DA-43CB-ABBC-73384B7E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3857625"/>
                <a:gridCol w="4171950"/>
              </a:tblGrid>
              <a:tr h="6705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公司 / 项目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本次窗口内的证据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估值处理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Talen / AWS PPA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2028 最低爬坡约 480 MW</a:t>
                      </a:r>
                    </a:p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既有合同全量价值约在 2030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基础展望 40 美元/股，已含爬坡</a:t>
                      </a:r>
                    </a:p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2028 长期合同仅约占毛利 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Talen / 更多合同机会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 GW 属于新增机会</a:t>
                      </a:r>
                    </a:p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尚未签成可计入基准的合同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悲观按电价、停机与延迟施压</a:t>
                      </a:r>
                    </a:p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基准不增加这些机会的现金流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Constellation / Crane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重启目标 2027</a:t>
                      </a:r>
                    </a:p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Clinton 既有核电 PPA 从 2027 开始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核实重启成本与合同净收益</a:t>
                      </a:r>
                    </a:p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新增 920 MW 协议在 2029–2032 开始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Constellation / 现价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现价 298.96 USD</a:t>
                      </a:r>
                    </a:p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 指引市盈率约 24.9 倍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23 倍退出时，门槛需 EPS 17.19</a:t>
                      </a:r>
                    </a:p>
                    <a:p>
                      <a:r>
                        <a:rPr sz="15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较 2026 中点增长约 43%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F09EF-4C88-4DF1-8F28-B810D516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CEG 保留观察，持续 EPS 和项目净收益仍需核对。反算暂未计股息；TLN 基础展望采用 2026-06-30 电价曲线。</a:t>
            </a:r>
          </a:p>
        </p:txBody>
      </p:sp>
    </p:spTree>
    <p:extLst>
      <p:ext uri="{BB962C8B-B14F-4D97-AF65-F5344CB8AC3E}">
        <p14:creationId xmlns:p14="http://schemas.microsoft.com/office/powerpoint/2010/main" val="18313178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3E63F-11F1-448B-A4A5-FBA513F1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A4D5C-B5BF-4A88-8FFA-6E2D6B2E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台积电：盈利持续性与价格最匹配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90896-808D-4459-B9F7-D3DD49FB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推荐证券为 2330.TW 普通股；当前价 2,410 TWD。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49B20-A0C1-49E0-94C8-E8014CBA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A85E3-4F39-4F95-8065-8932BD7D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CE108-560D-4494-8AE5-A5399428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2247900"/>
                <a:gridCol w="2247900"/>
                <a:gridCol w="2247900"/>
              </a:tblGrid>
              <a:tr h="5635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2028 情景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悲观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基准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乐观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收入（万亿 TWD）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6.53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7.97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8.78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持续营业利润率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45.0%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55.0%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59.0%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持续 EPS（TWD）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92.0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137.3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167.1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退出市盈率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 倍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24 倍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29 倍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63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24 个月总回报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-21.7%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38.9%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103.5%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8C1EE-E67A-462D-A76B-D5955FDA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基准 2028 利润率 55%，低于 Q2 的 60.3%；VIS 一次性收益完全剔除。台湾尾部风险未被穷尽。</a:t>
            </a:r>
          </a:p>
        </p:txBody>
      </p:sp>
    </p:spTree>
    <p:extLst>
      <p:ext uri="{BB962C8B-B14F-4D97-AF65-F5344CB8AC3E}">
        <p14:creationId xmlns:p14="http://schemas.microsoft.com/office/powerpoint/2010/main" val="9962518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92335-13FE-4541-9DD7-B497C0FD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1EA54-39D1-46CE-A709-CF702D88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同一家公司，ADS 的价格并不相同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0137F-3636-4BD3-806C-4F986A34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两地收盘不同步；以下为指示比较，不是套利收益。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6555B-A3DB-4295-9BF9-6918EDA1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6F350-B223-47AF-91C1-0C3BDDB3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2139F-EF81-4BBC-8AF7-3482877A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3E949-945C-4AB1-92F1-0B376A14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12.8%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DCB32-3CA0-44B2-8FB3-143A210B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5286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TSM ADS 相对台股的指示溢价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FBD1E-1F59-4A0A-8635-29D3E32B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5086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约 399 美元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6E1A3-548A-412A-A819-E97C28E3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508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按同一门槛换算的 ADS 买入上限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8A9DC-75E9-4A17-B75F-59F8B77C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111252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1 ADS＝5 普通股；USD/TWD＝31.6954。</a:t>
            </a:r>
          </a:p>
          <a:p xmlns:a="http://schemas.openxmlformats.org/drawingml/2006/main">
            <a:pPr>
              <a:defRPr sz="20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台股 2,410 TWD，对应约 380.18 USD / ADS。</a:t>
            </a:r>
          </a:p>
          <a:p xmlns:a="http://schemas.openxmlformats.org/drawingml/2006/main">
            <a:pPr>
              <a:defRPr sz="20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TSM 报价 428.91 USD，回报空间小于台股。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2815E-1589-4574-A15B-8B1BDD8B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ADS 上限按台股基准估值与研究日汇率换算；未计 ADS 费用、税、交易资格与汇率变化。</a:t>
            </a:r>
          </a:p>
        </p:txBody>
      </p:sp>
    </p:spTree>
    <p:extLst>
      <p:ext uri="{BB962C8B-B14F-4D97-AF65-F5344CB8AC3E}">
        <p14:creationId xmlns:p14="http://schemas.microsoft.com/office/powerpoint/2010/main" val="11150198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04A6C-08CE-49A6-BFB9-2D12EB6B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99DE0-7624-4E01-9C4E-4A9CAB62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NVIDIA 与 Broadcom：稀缺价值也流向设计端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843CF-C275-4B6E-82CD-3EBCCE44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软件、定制芯片和网络设计可分享上游供给带来的高利润。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D959F-52D7-4513-A3C6-AFA4A3F2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F4FBD-E498-41C6-95F9-7A57FCC9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182B4-A127-4148-AC20-0378D0E8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4000500"/>
                <a:gridCol w="3933825"/>
              </a:tblGrid>
              <a:tr h="579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NVIDIA / Q2 FY27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Broadcom / Q3 FY26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962.21 亿美元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295.91 亿美元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AI 相关业务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数据中心收入 890 亿美元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AI 半导体收入 167 亿美元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自由现金流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213.41 亿美元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136.65 亿美元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需要扣除或监测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证券收益、应收占用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股权薪酬、净债务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投资排序 / 基准年化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 3 / 13.4%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 6 / 7.0%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F6243-3732-4A13-8029-29709462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两家公司都有真实现金收益；客户自研 ASIC 同时是 Broadcom 的机会和 NVIDIA 的竞争风险。</a:t>
            </a:r>
          </a:p>
        </p:txBody>
      </p:sp>
    </p:spTree>
    <p:extLst>
      <p:ext uri="{BB962C8B-B14F-4D97-AF65-F5344CB8AC3E}">
        <p14:creationId xmlns:p14="http://schemas.microsoft.com/office/powerpoint/2010/main" val="20748715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E4EFA-1F78-461B-9064-A62C1C45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B62FB-3D8A-4595-B863-E3A8FD9C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施耐德与西门子能源：电力设备的两家候选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115B1-C76B-48CE-8A1D-BD65DEC9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施耐德客户更分散；西门子能源的气机和电网定价证据更直接。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61030-8178-4BB9-B02D-E8A77ABE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FD03A-7AEC-44DF-B520-3593FBB3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C5BF8-6277-4461-AEF3-413C8F96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848100"/>
                <a:gridCol w="3848100"/>
              </a:tblGrid>
              <a:tr h="5794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比较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施耐德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西门子能源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股东收益的主要来源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供配电、自动化与服务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气机、电网设备与服务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最近利润证据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H1 调整 EBITA 利润率 19.3%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Q3 特殊项前利润率 14.2%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尚待兑现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提价覆盖原料和关税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高价积压交付与 Gamesa 修复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基准年化回报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11.7%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7.1%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15% 门槛买入上限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约 272 EUR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约 127 EUR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B69C9-99EC-47AF-98DA-6E17F9EF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两种利润率口径不同，不能直接判断谁更赚钱。模型统一采用扣除经常费用后的持续营业利润。</a:t>
            </a:r>
          </a:p>
        </p:txBody>
      </p:sp>
    </p:spTree>
    <p:extLst>
      <p:ext uri="{BB962C8B-B14F-4D97-AF65-F5344CB8AC3E}">
        <p14:creationId xmlns:p14="http://schemas.microsoft.com/office/powerpoint/2010/main" val="385329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00DA9-B0C9-4F41-8861-27B292FF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BD864-BC9A-4D63-9C5E-F43B7470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Vertiv 与 Eaton：订单增长要落到每股收益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42201-9DB5-4C75-9071-04965C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现场交付和服务有价值；原料与收购成本会分走一部分收益。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8E8BB-0597-4B79-BA4A-8F9EB032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7FD82-39FF-4E5C-8EEE-BA3AD904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C2EBD-CABB-424F-9E80-FA6ACC19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895725"/>
                <a:gridCol w="3895725"/>
              </a:tblGrid>
              <a:tr h="579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比较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Vertiv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Eaton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最近经营证据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Q2 调整营业利润率 22.6%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美洲电气积压同比 +33%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反证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液冷利润未独立披露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美洲电气利润率同比下降 2 个百分点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资本配置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UIH 首付 14.5 亿美元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Boyd 现金收购 95.5 亿美元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基准年化回报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6.2%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15% 门槛买入上限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约 239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约 317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DD407-B240-46D1-BC84-65B213C5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Eaton 商品通胀拖累 Q2 美洲电气利润率 470 基点。Vertiv 最高另付 11.5 亿美元取决于收购条款。</a:t>
            </a:r>
          </a:p>
        </p:txBody>
      </p:sp>
    </p:spTree>
    <p:extLst>
      <p:ext uri="{BB962C8B-B14F-4D97-AF65-F5344CB8AC3E}">
        <p14:creationId xmlns:p14="http://schemas.microsoft.com/office/powerpoint/2010/main" val="4830243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0135B-1C19-4C5B-B36F-92B1D70A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17425-9A3D-4E2F-B481-94480270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存储股：高利润必须经受价格回落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59FC2-A47A-4838-96D4-9F85917A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SK 与 Micron 的基准情景均低于当前季度利润率。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E3119-9EF5-4820-9D2C-C19BFA83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F820D-18E4-4C33-BE7A-E151B2DA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660D4-3C4C-4F2C-B00F-9C27D66B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657600"/>
                <a:gridCol w="3657600"/>
              </a:tblGrid>
              <a:tr h="5794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SK 海力士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Micron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最新季度营业利润率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76.3%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80.4%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2028 基准营业利润率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50.0%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60.0%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股东收益的保护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回购注销计划；尚未完成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保量协议；地板价未公开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基准年化回报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3.2%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0.6%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悲观情景总回报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−67.8%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−76.3%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2C83F-7E6A-414D-8D25-B2CFBCDC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SK 投资收益完全剔除；Micron 预计收到的客户存款在收款时列融资现金流。股价下跌空间不能用当季市盈率代替。</a:t>
            </a:r>
          </a:p>
        </p:txBody>
      </p:sp>
    </p:spTree>
    <p:extLst>
      <p:ext uri="{BB962C8B-B14F-4D97-AF65-F5344CB8AC3E}">
        <p14:creationId xmlns:p14="http://schemas.microsoft.com/office/powerpoint/2010/main" val="1102871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69564-F6A9-4E2B-86B3-A2BDC795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11E07-CFFC-4EBC-BF9C-FB30EC49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台积电与 Talen 达到 15% 回报门槛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F528B-B168-4143-8FC4-8C0926C4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本币、24 个月年化回报；数值由 Excel 同一组情景假设计算。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EA735-53DA-49CD-93E6-F03C3A6D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064FC-558F-450C-B76B-7CE3FA92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33589-C03A-4F75-B084-42F845E9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76250" y="1952625"/>
          <a:ext xmlns:a="http://schemas.openxmlformats.org/drawingml/2006/main" cx="111442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8dbbfe84264c6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4A7E8-C213-49C6-9C3D-3986BE31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情景之间不设概率权重。推荐次序还考虑下行损失和经营风险，因此不是按单一回报数字机械排序。</a:t>
            </a:r>
          </a:p>
        </p:txBody>
      </p:sp>
    </p:spTree>
    <p:extLst>
      <p:ext uri="{BB962C8B-B14F-4D97-AF65-F5344CB8AC3E}">
        <p14:creationId xmlns:p14="http://schemas.microsoft.com/office/powerpoint/2010/main" val="14663560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B0A05-56CA-43A9-B520-24192A02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AB85B-57C6-4F67-9D86-5EE95139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十一家公司：比较三种情景的股东回报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C9CF9-7B53-4AE1-A6CE-11687055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悲观和乐观列为总回报；基准列为年化回报。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A8B9B-80D1-4001-B3D4-066456B4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BBAA4-E547-4043-88C3-B7A2C5DF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5BF80-C448-4CEB-851E-8E1F7BAF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11252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143125"/>
                <a:gridCol w="2000250"/>
                <a:gridCol w="2143125"/>
                <a:gridCol w="2600325"/>
              </a:tblGrid>
              <a:tr h="315119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公司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悲观总回报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基准年化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乐观总回报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基准目标价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3151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台积电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-21.7%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17.9%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103.5%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3,296 TWD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51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Talen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-55.6%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19.4%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101.6%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452 USD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3151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NVIDIA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-48.8%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102.3%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295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51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施耐德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-30.2%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11.7%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71.6%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351 EUR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3151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西门子能源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-49.4%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78.6%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164 EUR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51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Broadcom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-48.5%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81.5%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404 USD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3151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Vertiv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-51.4%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75.1%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316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51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Eaton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-44.9%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47.5%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410 USD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3151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SK 海力士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-67.8%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155.5%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1,748,709 KRW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51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Micron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-76.3%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0.6%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101.9%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1,027 USD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31511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GE Vernova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-61.3%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-5.6%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56.2%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835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268A8-4D50-4D83-9F29-D06BDB40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目标价以各自交易币表示；股息、汇率、税费和模型口径见 Excel。</a:t>
            </a:r>
          </a:p>
        </p:txBody>
      </p:sp>
    </p:spTree>
    <p:extLst>
      <p:ext uri="{BB962C8B-B14F-4D97-AF65-F5344CB8AC3E}">
        <p14:creationId xmlns:p14="http://schemas.microsoft.com/office/powerpoint/2010/main" val="14278528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605DD-692B-44BD-AB2F-596A3D3E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7804B-369A-45A0-A934-B072D712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从利润到现金：重资本与资金占用改变回报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9FD4C-14FD-4CC2-A0ED-294D8106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估算 2028 自由现金流不延用客户预付款高峰。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84B9C-BAC1-46B2-9B53-973AE46B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FFBC1-CE1F-4281-97DE-F27E1F7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9EAB0-54B3-44DC-95BF-D29EA496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048000"/>
                <a:gridCol w="1905000"/>
                <a:gridCol w="1905000"/>
                <a:gridCol w="2171700"/>
              </a:tblGrid>
              <a:tr h="4667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公司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持续净利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资本开支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估算 FCF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FCF / 现价市值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台积电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3,560.6 bn TWD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2,150.0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2,840.6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NVIDIA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283.6 bn USD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16.0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253.6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4.6%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Broadcom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80.0 bn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78.0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Vertiv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3.9 bn USD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2.9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2.7%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Micron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80.1 bn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38.0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52.1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GE Vernova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7.4 bn USD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5.3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2.1%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AEE8E-6563-4F55-AE5C-53F35C72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bn 表示十亿；资本开支和 FCF 与净利同币种、同单位。FCF＝持续净利＋折旧摊销－资本开支－营运资本占用。</a:t>
            </a:r>
          </a:p>
        </p:txBody>
      </p:sp>
    </p:spTree>
    <p:extLst>
      <p:ext uri="{BB962C8B-B14F-4D97-AF65-F5344CB8AC3E}">
        <p14:creationId xmlns:p14="http://schemas.microsoft.com/office/powerpoint/2010/main" val="9435946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74158-F883-4F29-9F2A-5E551A7C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500D3-FB76-4FF8-A276-F0318E15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十家盈利模型：现价要求怎样的利润率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9DC5E-074E-4C87-A037-CEFF7684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两年增长、利润率与退出倍数都是研究假设，不能当作公司承诺。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2F646-94E1-4FAB-9031-56624AA2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59C50-098A-4F0B-BB13-65F9750D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D3334-3E66-487D-9937-54141EA3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981200"/>
          <a:ext xmlns:a="http://schemas.openxmlformats.org/drawingml/2006/main" cx="111252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762250"/>
                <a:gridCol w="2143125"/>
                <a:gridCol w="1809750"/>
                <a:gridCol w="2314575"/>
              </a:tblGrid>
              <a:tr h="34376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公司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2027 / 2028 增长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2028 利润率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退出 PE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现价所需利润率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34376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台积电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25.0% / 18.0%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55.0%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24 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52.3%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376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NVIDIA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30.0% / 20.0%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58.0%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 倍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59.7%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34376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施耐德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10.0% / 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26 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21.1%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376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西门子能源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13.0% / 10.0%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24 倍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17.4%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34376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Broadcom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40.0% / 20.0%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56.0%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 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64.6%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376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Vertiv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25.0% / 20.0%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25.0%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32 倍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29.2%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34376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Eaton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10.0% / 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21.0%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26 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26.8%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376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SK 海力士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15.0% / -10.0%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50.0%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 倍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62.2%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34376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Micron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30.0% / -5.0%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 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78.6%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4376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GE Vernova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15.0% / 15.0%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16.0%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30 倍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23.9%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D987C-3045-434C-BA6F-10D69F70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“现价所需利润率”固定其他基准假设，反算达到 15% 年化回报的营业利润率。GEV 的兑现要求尤其高。</a:t>
            </a:r>
          </a:p>
        </p:txBody>
      </p:sp>
    </p:spTree>
    <p:extLst>
      <p:ext uri="{BB962C8B-B14F-4D97-AF65-F5344CB8AC3E}">
        <p14:creationId xmlns:p14="http://schemas.microsoft.com/office/powerpoint/2010/main" val="3628861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B1A43-1A41-41D2-8E3F-D5F76632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816D5-0B5F-4B6F-BE72-7CE7F405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首选也依赖假设，需要保留价格余地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6CDF3-BA33-4EC3-9136-31C17B33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台积电：基准 EPS 下修 10% 后，24 倍退出 PE 不再满足门槛。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DE9FA-A511-4964-8261-EA6C995C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0546C-04F0-40CA-8287-BE69E474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317A6-8C95-47AE-BC6D-B690DA28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628900"/>
                <a:gridCol w="2628900"/>
                <a:gridCol w="2628900"/>
              </a:tblGrid>
              <a:tr h="5619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2028 EPS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 倍 PE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24 倍 PE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28 倍 PE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123.6 TWD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137.3 TWD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7.8%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17.9%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27.2%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151.0 TWD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23.5%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33.3%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A0549-11D4-467F-9B5F-B039866B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人民币或美元投资者还承担台币风险。</a:t>
            </a:r>
          </a:p>
          <a:p xmlns:a="http://schemas.openxmlformats.org/drawingml/2006/main">
            <a:pPr>
              <a:defRPr sz="187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台湾地缘冲突可能同时伤及台积电、NVIDIA 和 Broadcom。</a:t>
            </a:r>
          </a:p>
          <a:p xmlns:a="http://schemas.openxmlformats.org/drawingml/2006/main">
            <a:pPr>
              <a:defRPr sz="187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三只股票一起持有，并不能分散共同供应链风险。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E7D81-9435-4A19-8845-6947810D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地缘尾部风险未纳入情景概率；风险暴露需按投委会已有额度管理。</a:t>
            </a:r>
          </a:p>
        </p:txBody>
      </p:sp>
    </p:spTree>
    <p:extLst>
      <p:ext uri="{BB962C8B-B14F-4D97-AF65-F5344CB8AC3E}">
        <p14:creationId xmlns:p14="http://schemas.microsoft.com/office/powerpoint/2010/main" val="14023050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FDF66-824C-48B6-9B6E-F2287AF8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05392-EF7C-4921-BF83-99BD67BF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未来 12 个月：用这些变化检验判断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ACF07-7540-4A63-854D-BC9D4C4C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监测重点是订单是否变成收入、利润和回款。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017DD-A712-490A-96C9-2CD5A47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50354-621A-4B10-8293-83994903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82356-910E-43EE-8B80-BC024E77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334000"/>
                <a:gridCol w="3314700"/>
              </a:tblGrid>
              <a:tr h="6743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时间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需要验证的变化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对应动作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 Q3–Q4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GEV 产能爬坡、预订转正式订单</a:t>
                      </a:r>
                    </a:p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Vertiv UIH 交割与现金使用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利润未随订单兑现时，降低估值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 Q4–2027 H1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电气设备净提价覆盖成本</a:t>
                      </a:r>
                    </a:p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NVIDIA 应收回款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成本或回款恶化时，暂停追加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2027 H1–H2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Micron 新供给和三星 HBM 认证</a:t>
                      </a:r>
                    </a:p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台积电先进节点爬坡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供应提前时，下调存储利润率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持续两季的共同警报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主要云厂商削减资本开支</a:t>
                      </a:r>
                    </a:p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订单延迟、取消或放宽付款条件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同时复核全部 AI 基础设施敞口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52793-49BE-4065-9E39-70292191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具体阈值和每家公司反证列在 Excel“监测与反证”。每季更新价格与经营假设，重新计算门槛价。</a:t>
            </a:r>
          </a:p>
        </p:txBody>
      </p:sp>
    </p:spTree>
    <p:extLst>
      <p:ext uri="{BB962C8B-B14F-4D97-AF65-F5344CB8AC3E}">
        <p14:creationId xmlns:p14="http://schemas.microsoft.com/office/powerpoint/2010/main" val="18861551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243BD-8A0E-495E-8108-A579FEBD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D9FFA-725E-4E7E-A389-10299146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其他候选：仍需补足经营和估值证据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B0A83-C812-4533-8E0E-750117B4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候选保留，但本轮缺少足够证据支持更靠前的投资排序。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51C55-AB16-4B35-8F08-1AF9E189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B90B1-EC0A-445B-B2B7-949D8088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6E687-A2EA-4006-9902-2CEFB9C4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23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2047875"/>
          <a:ext xmlns:a="http://schemas.openxmlformats.org/drawingml/2006/main" cx="111252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648200"/>
                <a:gridCol w="3238500"/>
              </a:tblGrid>
              <a:tr h="584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候选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证据与限制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后续研究要求</a:t>
                      </a:r>
                    </a:p>
                  </a:txBody>
                  <a:tcPr marL="91440" marR="91440" marT="45720" marB="45720">
                    <a:solidFill>
                      <a:srgbClr val="102C4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三星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HBM4 销售已扩大</a:t>
                      </a:r>
                    </a:p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集团利润混有其他业务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核实 HBM 客户份额</a:t>
                      </a:r>
                    </a:p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核对分部资本回报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Lumentum / 光互连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已有真实营业利润</a:t>
                      </a:r>
                    </a:p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债务转股影响股数与净利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核实客户集中与扩产</a:t>
                      </a:r>
                    </a:p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计算摊薄后的估值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Arista / 交换网络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有网络架构与客户关系价值</a:t>
                      </a:r>
                    </a:p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本轮未验证统一供给缺口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补全订单与竞争证据</a:t>
                      </a:r>
                    </a:p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完成估值后决定仓位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输配电 / 新建核电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受监管输配电要看获准回报</a:t>
                      </a:r>
                    </a:p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新建核电多在 2030 年以后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核准资本成本回收</a:t>
                      </a:r>
                    </a:p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核对投运时间</a:t>
                      </a:r>
                    </a:p>
                  </a:txBody>
                  <a:tcPr marL="91440" marR="91440" marT="45720" marB="45720">
                    <a:solidFill>
                      <a:srgbClr val="F2F3ED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服务器组装 / 通用部件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需求强不自动产生定价权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449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跟踪利润率与现金回报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A2D0B-B042-4FCA-8713-366D2652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本轮完成十一家公司估值；Constellation 单列门槛反算。候选名单未穷尽全部上市证券。</a:t>
            </a:r>
          </a:p>
        </p:txBody>
      </p:sp>
    </p:spTree>
    <p:extLst>
      <p:ext uri="{BB962C8B-B14F-4D97-AF65-F5344CB8AC3E}">
        <p14:creationId xmlns:p14="http://schemas.microsoft.com/office/powerpoint/2010/main" val="16987063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EB156-1B35-42ED-BB3A-56244536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BB 箱子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517B8-1C40-4511-8C99-7F4DD01E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建议：台积电优先，Talen 控制仓位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981B4-30E6-4A0B-8560-8BFEA620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两只均满足基准门槛，主要风险不同。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CEB38-3311-468D-B949-57732494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9A3D4-CE19-49FA-B5D9-34F74B1B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561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AI 基础设施研究  ·  2026-09-05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E106D-9E9B-4043-B85E-47CC3871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99AC8-4DE5-4DA8-9D6F-E395CB15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2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8073D-626D-4A14-AD20-E9059473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5048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第 1：台积电台股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DC9FB-8878-4F04-A3DE-95FB0595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研究上限约 2,531 TWD。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E4CD2-7B1F-4BE1-B617-45728D45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基准年化约 17.9%。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16EAF-9BCB-451A-AC17-451878DE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制造壁垒与定制芯片需求支持收益。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8F374-9527-46BB-AE9D-866358B9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交易前核对台湾风险额度。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5B889-3C6B-4288-B1CE-4ACDBE3D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2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D0D50-AA03-407D-BB70-775BDC9F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5086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第 2：Talen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BFDEB-0EB9-4E5B-A9E6-06284DC8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5086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研究上限约 342 USD。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FCF80-BA28-4BB2-83F5-E61C16F0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5086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基准年化约 19.4%。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6FD8C-855B-42F3-9006-C21E06F4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5086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已签合同与现有机组支持现金流。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8DD04-4A6E-4F4F-BD12-117EF325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5086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03449"/>
                </a:solidFill>
                <a:latin typeface="Noto Sans CJK SC"/>
                <a:ea typeface="Noto Sans CJK SC"/>
                <a:cs typeface="Noto Sans CJK SC"/>
              </a:rPr>
              <a:t>2028 多数毛利仍受电价影响。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B7935-86D5-4BC4-8B74-559B7088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02C4F"/>
                </a:solidFill>
                <a:latin typeface="Noto Sans CJK SC"/>
                <a:ea typeface="Noto Sans CJK SC"/>
                <a:cs typeface="Noto Sans CJK SC"/>
              </a:rPr>
              <a:t>NVIDIA、施耐德、西门子能源、Broadcom 等待价格。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829DF-5259-4861-9DE4-9DB6DE39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96A7A"/>
                </a:solidFill>
                <a:latin typeface="Noto Sans CJK SC"/>
                <a:ea typeface="Noto Sans CJK SC"/>
                <a:cs typeface="Noto Sans CJK SC"/>
              </a:rPr>
              <a:t>价格与假设截至 2026-09-05；按买入上限向下取整并分批。执行前刷新报价、财报和组合风险额度。</a:t>
            </a:r>
          </a:p>
        </p:txBody>
      </p:sp>
    </p:spTree>
    <p:extLst>
      <p:ext uri="{BB962C8B-B14F-4D97-AF65-F5344CB8AC3E}">
        <p14:creationId xmlns:p14="http://schemas.microsoft.com/office/powerpoint/2010/main" val="916047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>
  <dc:title>AI infrastructure research</dc:title>
  <dc:creator>BB Box</dc:creator>
</cp:coreProperties>
</file>